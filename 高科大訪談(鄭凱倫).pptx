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10"/>
  </p:notesMasterIdLst>
  <p:handoutMasterIdLst>
    <p:handoutMasterId r:id="rId11"/>
  </p:handoutMasterIdLst>
  <p:sldIdLst>
    <p:sldId id="257" r:id="rId2"/>
    <p:sldId id="259" r:id="rId3"/>
    <p:sldId id="261" r:id="rId4"/>
    <p:sldId id="262" r:id="rId5"/>
    <p:sldId id="264" r:id="rId6"/>
    <p:sldId id="265" r:id="rId7"/>
    <p:sldId id="266" r:id="rId8"/>
    <p:sldId id="260" r:id="rId9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45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50261E5-B7A8-407C-8EC1-76B17CEB3BFC}" type="datetime1">
              <a:rPr lang="zh-TW" altLang="en-US" smtClean="0"/>
              <a:t>2022/1/2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50AEE62-6B03-446E-B028-1F2C67AA2CBE}" type="datetime1">
              <a:rPr lang="zh-TW" altLang="en-US" smtClean="0"/>
              <a:t>2022/1/2</a:t>
            </a:fld>
            <a:endParaRPr 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/>
              <a:t>按一下以編輯母片文字樣式</a:t>
            </a:r>
            <a:endParaRPr lang="en-US"/>
          </a:p>
          <a:p>
            <a:pPr lvl="1" rtl="0"/>
            <a:r>
              <a:rPr lang="zh-tw"/>
              <a:t>第二層</a:t>
            </a:r>
          </a:p>
          <a:p>
            <a:pPr lvl="2" rtl="0"/>
            <a:r>
              <a:rPr lang="zh-tw"/>
              <a:t>第三層</a:t>
            </a:r>
          </a:p>
          <a:p>
            <a:pPr lvl="3" rtl="0"/>
            <a:r>
              <a:rPr lang="zh-tw"/>
              <a:t>第四層</a:t>
            </a:r>
          </a:p>
          <a:p>
            <a:pPr lvl="4" rtl="0"/>
            <a:r>
              <a:rPr lang="zh-tw"/>
              <a:t>第五層</a:t>
            </a:r>
            <a:endParaRPr lang="en-US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zh-TW" altLang="en-US"/>
              <a:t>按一下以編輯母片子標題樣式</a:t>
            </a:r>
            <a:endParaRPr lang="en-US" dirty="0"/>
          </a:p>
        </p:txBody>
      </p: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1E8D126-38DE-467F-A065-2775F6C58740}" type="datetime1">
              <a:rPr lang="zh-TW" altLang="en-US" smtClean="0"/>
              <a:t>2022/1/2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5B7815-05FA-48A0-B9F7-1E04C4F2927A}" type="datetime1">
              <a:rPr lang="zh-TW" altLang="en-US" smtClean="0"/>
              <a:t>2022/1/2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投影片編號預留位置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FBF2AB9-D521-429F-BA9E-A2DD356AF2DF}" type="datetime1">
              <a:rPr lang="zh-TW" altLang="en-US" smtClean="0"/>
              <a:t>2022/1/2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48A74C-3BFC-4F64-9D88-E80E3E32994C}" type="datetime1">
              <a:rPr lang="zh-TW" altLang="en-US" smtClean="0"/>
              <a:t>2022/1/2</a:t>
            </a:fld>
            <a:endParaRPr lang="en-US" dirty="0"/>
          </a:p>
        </p:txBody>
      </p:sp>
      <p:sp>
        <p:nvSpPr>
          <p:cNvPr id="9" name="頁尾版面配置區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投影片編號預留位置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文字預留位置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0166BAE-2749-48CF-A2DD-C010F9F8CC67}" type="datetime1">
              <a:rPr lang="zh-TW" altLang="en-US" smtClean="0"/>
              <a:t>2022/1/2</a:t>
            </a:fld>
            <a:endParaRPr lang="en-US" dirty="0"/>
          </a:p>
        </p:txBody>
      </p:sp>
      <p:sp>
        <p:nvSpPr>
          <p:cNvPr id="11" name="頁尾版面配置區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投影片編號預留位置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6" name="日期版面配置區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EB3E87-0960-43A6-B33B-AB6B15A82628}" type="datetime1">
              <a:rPr lang="zh-TW" altLang="en-US" smtClean="0"/>
              <a:t>2022/1/2</a:t>
            </a:fld>
            <a:endParaRPr lang="en-US" dirty="0"/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投影片編號預留位置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A92F8F0-693D-4EF4-BEF5-7FD95F4C1D80}" type="datetime1">
              <a:rPr lang="zh-TW" altLang="en-US" smtClean="0"/>
              <a:t>2022/1/2</a:t>
            </a:fld>
            <a:endParaRPr 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4E96419C-65CA-4A96-8C8D-1B83D1EEA06C}" type="datetime1">
              <a:rPr lang="zh-TW" altLang="en-US" smtClean="0"/>
              <a:t>2022/1/2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圖片預留位置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55B0D56E-A8D9-4835-9121-D0F2B7B922B1}" type="datetime1">
              <a:rPr lang="zh-TW" altLang="en-US" smtClean="0"/>
              <a:t>2022/1/2</a:t>
            </a:fld>
            <a:endParaRPr 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D90E0D-C35F-4A14-A7E8-7670CE6639F2}" type="datetime1">
              <a:rPr lang="zh-TW" altLang="en-US" smtClean="0"/>
              <a:t>2022/1/2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投影片編號預留位置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2E02858-A2D1-43A3-9BDC-80D1F48AA51B}" type="datetime1">
              <a:rPr lang="zh-TW" altLang="en-US" smtClean="0"/>
              <a:t>2022/1/2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tw" dirty="0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tw" dirty="0"/>
              <a:t>按一下以編輯母片文字樣式</a:t>
            </a:r>
          </a:p>
          <a:p>
            <a:pPr lvl="1" rtl="0"/>
            <a:r>
              <a:rPr lang="zh-tw" dirty="0"/>
              <a:t>第二層</a:t>
            </a:r>
          </a:p>
          <a:p>
            <a:pPr lvl="2" rtl="0"/>
            <a:r>
              <a:rPr lang="zh-tw" dirty="0"/>
              <a:t>第三層</a:t>
            </a:r>
          </a:p>
          <a:p>
            <a:pPr lvl="3" rtl="0"/>
            <a:r>
              <a:rPr lang="zh-tw" dirty="0"/>
              <a:t>第四層</a:t>
            </a:r>
          </a:p>
          <a:p>
            <a:pPr lvl="4" rtl="0"/>
            <a:r>
              <a:rPr lang="zh-tw" dirty="0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86D72111-2BF8-49E3-AA06-55BC47AB46EA}" type="datetime1">
              <a:rPr lang="zh-TW" altLang="en-US" smtClean="0"/>
              <a:t>2022/1/2</a:t>
            </a:fld>
            <a:endParaRPr 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直線接點​​(S)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MingLiu" panose="02020509000000000000" pitchFamily="49" charset="-120"/>
          <a:ea typeface="MingLiu" panose="02020509000000000000" pitchFamily="49" charset="-120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矩形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8148" y="2919966"/>
            <a:ext cx="6115317" cy="1660999"/>
          </a:xfrm>
        </p:spPr>
        <p:txBody>
          <a:bodyPr rtlCol="0">
            <a:norm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lang="zh-TW" altLang="zh-TW" sz="2400" dirty="0">
                <a:solidFill>
                  <a:srgbClr val="2A2A2A"/>
                </a:solidFill>
                <a:latin typeface="Verdana" panose="020B0604030504040204" pitchFamily="34" charset="0"/>
                <a:ea typeface="微軟正黑體" panose="020B0604030504040204" pitchFamily="34" charset="-120"/>
                <a:cs typeface="FreesiaUPC" panose="020B0604020202020204" pitchFamily="34" charset="-34"/>
              </a:rPr>
              <a:t>受訪者</a:t>
            </a:r>
            <a:r>
              <a:rPr lang="en-GB" altLang="zh-TW" sz="2400" dirty="0">
                <a:solidFill>
                  <a:srgbClr val="2A2A2A"/>
                </a:solidFill>
                <a:latin typeface="Verdana" panose="020B0604030504040204" pitchFamily="34" charset="0"/>
                <a:ea typeface="微軟正黑體" panose="020B0604030504040204" pitchFamily="34" charset="-120"/>
                <a:cs typeface="FreesiaUPC" panose="020B0604020202020204" pitchFamily="34" charset="-34"/>
              </a:rPr>
              <a:t>:</a:t>
            </a:r>
            <a:r>
              <a:rPr lang="zh-TW" altLang="en-US" sz="2400" dirty="0">
                <a:solidFill>
                  <a:srgbClr val="2A2A2A"/>
                </a:solidFill>
                <a:latin typeface="Verdana" panose="020B0604030504040204" pitchFamily="34" charset="0"/>
                <a:ea typeface="微軟正黑體" panose="020B0604030504040204" pitchFamily="34" charset="-120"/>
                <a:cs typeface="FreesiaUPC" panose="020B0604020202020204" pitchFamily="34" charset="-34"/>
              </a:rPr>
              <a:t>高雄科技大學五專部模具工程科</a:t>
            </a:r>
            <a:endParaRPr lang="zh-TW" altLang="zh-TW" sz="2800" b="1" dirty="0">
              <a:solidFill>
                <a:srgbClr val="002060"/>
              </a:solidFill>
              <a:effectLst/>
              <a:latin typeface="Verdana" panose="020B0604030504040204" pitchFamily="34" charset="0"/>
              <a:ea typeface="微軟正黑體" panose="020B0604030504040204" pitchFamily="34" charset="-120"/>
              <a:cs typeface="FreesiaUPC" panose="020B0604020202020204" pitchFamily="34" charset="-34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 rtlCol="0">
            <a:normAutofit fontScale="62500" lnSpcReduction="20000"/>
          </a:bodyPr>
          <a:lstStyle/>
          <a:p>
            <a:pPr rtl="0"/>
            <a:r>
              <a:rPr lang="zh-TW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endParaRPr lang="en-US" altLang="zh-TW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altLang="ja-JP" sz="4400" b="0" kern="50" spc="-60" dirty="0">
                <a:solidFill>
                  <a:srgbClr val="2A2A2A"/>
                </a:solidFill>
                <a:effectLst/>
                <a:latin typeface="Verdana" panose="020B0604030504040204" pitchFamily="34" charset="0"/>
                <a:ea typeface="微軟正黑體" panose="020B0604030504040204" pitchFamily="34" charset="-120"/>
                <a:cs typeface="PingFang SC"/>
              </a:rPr>
              <a:t>				</a:t>
            </a:r>
            <a:r>
              <a:rPr lang="zh-TW" altLang="en-US" sz="5100" b="0" kern="50" spc="-60" dirty="0">
                <a:solidFill>
                  <a:srgbClr val="2A2A2A"/>
                </a:solidFill>
                <a:effectLst/>
                <a:latin typeface="Verdana" panose="020B0604030504040204" pitchFamily="34" charset="0"/>
                <a:ea typeface="微軟正黑體" panose="020B0604030504040204" pitchFamily="34" charset="-120"/>
                <a:cs typeface="PingFang SC"/>
              </a:rPr>
              <a:t>   </a:t>
            </a:r>
            <a:r>
              <a:rPr lang="zh-TW" altLang="en-US" sz="5100" i="0" dirty="0">
                <a:solidFill>
                  <a:srgbClr val="000000"/>
                </a:solidFill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  <a:t>鄭凱倫</a:t>
            </a:r>
          </a:p>
          <a:p>
            <a:pPr rtl="0"/>
            <a:endParaRPr lang="zh-tw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4" name="直線接點​​(S)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圖片 4">
            <a:extLst>
              <a:ext uri="{FF2B5EF4-FFF2-40B4-BE49-F238E27FC236}">
                <a16:creationId xmlns:a16="http://schemas.microsoft.com/office/drawing/2014/main" id="{E52B54BC-AEA1-4D58-BB17-AF96333F37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1120"/>
            <a:ext cx="5289753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64BFA1-BEC8-4D08-B78C-94AD8F819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435" y="46037"/>
            <a:ext cx="10302240" cy="2466757"/>
          </a:xfrm>
        </p:spPr>
        <p:txBody>
          <a:bodyPr anchor="b">
            <a:normAutofit/>
          </a:bodyPr>
          <a:lstStyle/>
          <a:p>
            <a:r>
              <a:rPr lang="ja-JP" altLang="zh-TW" sz="4300" kern="50" spc="-50" dirty="0">
                <a:solidFill>
                  <a:schemeClr val="tx2">
                    <a:lumMod val="75000"/>
                  </a:schemeClr>
                </a:solidFill>
                <a:effectLst/>
                <a:highlight>
                  <a:srgbClr val="00FFFF"/>
                </a:highlight>
              </a:rPr>
              <a:t>訪談</a:t>
            </a:r>
            <a:r>
              <a:rPr lang="zh-TW" altLang="en-US" sz="4300" kern="50" spc="-50" dirty="0">
                <a:solidFill>
                  <a:schemeClr val="tx2">
                    <a:lumMod val="75000"/>
                  </a:schemeClr>
                </a:solidFill>
                <a:effectLst/>
                <a:highlight>
                  <a:srgbClr val="00FFFF"/>
                </a:highlight>
              </a:rPr>
              <a:t> </a:t>
            </a:r>
            <a:r>
              <a:rPr lang="ja-JP" altLang="zh-TW" sz="4300" kern="50" spc="-50" dirty="0">
                <a:solidFill>
                  <a:schemeClr val="tx2">
                    <a:lumMod val="75000"/>
                  </a:schemeClr>
                </a:solidFill>
                <a:effectLst/>
                <a:highlight>
                  <a:srgbClr val="00FFFF"/>
                </a:highlight>
              </a:rPr>
              <a:t>主題</a:t>
            </a:r>
            <a:r>
              <a:rPr lang="zh-TW" altLang="en-US" sz="4300" kern="50" spc="-50" dirty="0">
                <a:solidFill>
                  <a:schemeClr val="tx2">
                    <a:lumMod val="75000"/>
                  </a:schemeClr>
                </a:solidFill>
                <a:effectLst/>
                <a:highlight>
                  <a:srgbClr val="00FFFF"/>
                </a:highlight>
              </a:rPr>
              <a:t>      </a:t>
            </a:r>
            <a:r>
              <a:rPr lang="zh-TW" altLang="en-US" sz="4300" kern="50" spc="-50" dirty="0">
                <a:solidFill>
                  <a:schemeClr val="tx2">
                    <a:lumMod val="75000"/>
                  </a:schemeClr>
                </a:solidFill>
                <a:effectLst/>
                <a:highlight>
                  <a:srgbClr val="0000FF"/>
                </a:highlight>
              </a:rPr>
              <a:t>        </a:t>
            </a:r>
            <a:r>
              <a:rPr lang="zh-TW" altLang="zh-TW" sz="4300" kern="50" spc="-5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highlight>
                  <a:srgbClr val="0000FF"/>
                </a:highlight>
              </a:rPr>
              <a:t>學制</a:t>
            </a:r>
            <a:r>
              <a:rPr lang="zh-TW" altLang="en-US" sz="4300" kern="50" spc="-5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highlight>
                  <a:srgbClr val="0000FF"/>
                </a:highlight>
              </a:rPr>
              <a:t> </a:t>
            </a:r>
            <a:r>
              <a:rPr lang="ja-JP" altLang="zh-TW" sz="4300" kern="50" spc="-5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highlight>
                  <a:srgbClr val="0000FF"/>
                </a:highlight>
              </a:rPr>
              <a:t>經驗</a:t>
            </a:r>
            <a:r>
              <a:rPr lang="zh-TW" altLang="en-US" sz="4300" kern="50" spc="-5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highlight>
                  <a:srgbClr val="0000FF"/>
                </a:highlight>
              </a:rPr>
              <a:t> </a:t>
            </a:r>
            <a:r>
              <a:rPr lang="ja-JP" altLang="zh-TW" sz="4300" kern="50" spc="-5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highlight>
                  <a:srgbClr val="0000FF"/>
                </a:highlight>
              </a:rPr>
              <a:t>分享</a:t>
            </a:r>
            <a:r>
              <a:rPr lang="zh-TW" altLang="en-US" sz="4300" kern="50" spc="-5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highlight>
                  <a:srgbClr val="0000FF"/>
                </a:highlight>
              </a:rPr>
              <a:t>   </a:t>
            </a:r>
            <a:br>
              <a:rPr lang="zh-TW" altLang="zh-TW" sz="4300" dirty="0">
                <a:effectLst/>
                <a:highlight>
                  <a:srgbClr val="00FF00"/>
                </a:highlight>
              </a:rPr>
            </a:br>
            <a:r>
              <a:rPr lang="zh-TW" altLang="en-US" sz="4300" dirty="0">
                <a:effectLst/>
                <a:highlight>
                  <a:srgbClr val="00FF00"/>
                </a:highlight>
              </a:rPr>
              <a:t> </a:t>
            </a:r>
            <a:endParaRPr lang="zh-TW" altLang="en-US" sz="4300" dirty="0">
              <a:highlight>
                <a:srgbClr val="00FF00"/>
              </a:highlight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35C8D6-59F8-4BA8-8277-0B122B7A79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5680" y="3579707"/>
            <a:ext cx="4639736" cy="3748193"/>
          </a:xfrm>
        </p:spPr>
        <p:txBody>
          <a:bodyPr>
            <a:normAutofit/>
          </a:bodyPr>
          <a:lstStyle/>
          <a:p>
            <a:pPr marL="0" indent="0" algn="just">
              <a:spcAft>
                <a:spcPts val="1000"/>
              </a:spcAft>
              <a:buNone/>
              <a:tabLst>
                <a:tab pos="5727700" algn="r"/>
              </a:tabLst>
            </a:pPr>
            <a:r>
              <a:rPr lang="ja-JP" altLang="zh-TW" sz="2800" b="1" kern="50" spc="-50" dirty="0"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  <a:t>簡介：</a:t>
            </a:r>
            <a:r>
              <a:rPr lang="zh-TW" altLang="en-US" sz="2800" b="1" kern="50" spc="-50" dirty="0"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  <a:t>由於</a:t>
            </a:r>
            <a:r>
              <a:rPr lang="ja-JP" altLang="zh-TW" sz="2800" b="1" kern="50" spc="-50" dirty="0"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  <a:t>新五專的崛起，帶來了</a:t>
            </a:r>
            <a:r>
              <a:rPr lang="en-US" altLang="zh-TW" sz="2800" b="1" kern="50" spc="-50" dirty="0"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  <a:t>PTECH</a:t>
            </a:r>
            <a:r>
              <a:rPr lang="ja-JP" altLang="zh-TW" sz="2800" b="1" kern="50" spc="-50" dirty="0"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  <a:t>這個創新學制，然而身為同樣五專學制的</a:t>
            </a:r>
            <a:r>
              <a:rPr lang="zh-TW" altLang="zh-TW" sz="2800" b="1" kern="50" spc="-50" dirty="0"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  <a:t>我們</a:t>
            </a:r>
            <a:r>
              <a:rPr lang="ja-JP" altLang="zh-TW" sz="2800" b="1" kern="50" spc="-50" dirty="0"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  <a:t>對於這個學制十分好奇，於是我們開啟這</a:t>
            </a:r>
            <a:r>
              <a:rPr lang="zh-TW" altLang="en-US" sz="2800" b="1" kern="50" spc="-50" dirty="0"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  <a:t>次令人難忘的</a:t>
            </a:r>
            <a:r>
              <a:rPr lang="ja-JP" altLang="zh-TW" sz="2800" b="1" kern="50" spc="-50" dirty="0"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  <a:t>訪談</a:t>
            </a:r>
            <a:r>
              <a:rPr lang="ja-JP" altLang="zh-TW" sz="2800" b="1" kern="50" spc="-50" dirty="0">
                <a:effectLst/>
              </a:rPr>
              <a:t>。</a:t>
            </a:r>
            <a:endParaRPr lang="zh-TW" altLang="zh-TW" sz="2800" b="1" dirty="0">
              <a:effectLst/>
            </a:endParaRPr>
          </a:p>
          <a:p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CD5618C6-C56F-400B-90E1-152CA7624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670" y="0"/>
            <a:ext cx="3748194" cy="3429000"/>
          </a:xfrm>
          <a:prstGeom prst="rect">
            <a:avLst/>
          </a:prstGeom>
          <a:noFill/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20AB76B-F17C-4C09-A822-508D0AE8F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A55B7815-05FA-48A0-B9F7-1E04C4F2927A}" type="datetime1">
              <a:rPr lang="zh-TW" altLang="en-US" smtClean="0"/>
              <a:pPr rtl="0">
                <a:spcAft>
                  <a:spcPts val="600"/>
                </a:spcAft>
              </a:pPr>
              <a:t>2022/1/2</a:t>
            </a:fld>
            <a:endParaRPr 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C38F70A9-8713-456E-B216-4C42BF0D2E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792" y="4160470"/>
            <a:ext cx="3272118" cy="214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659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5807603-4A31-47BE-9E61-6B44EB98E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770" y="1497106"/>
            <a:ext cx="2126631" cy="576428"/>
          </a:xfrm>
        </p:spPr>
        <p:txBody>
          <a:bodyPr anchor="b">
            <a:noAutofit/>
          </a:bodyPr>
          <a:lstStyle/>
          <a:p>
            <a:pPr marL="228600">
              <a:spcAft>
                <a:spcPts val="1000"/>
              </a:spcAft>
              <a:tabLst>
                <a:tab pos="5727700" algn="r"/>
              </a:tabLst>
            </a:pPr>
            <a:r>
              <a:rPr lang="zh-TW" altLang="en-US" sz="3200" dirty="0"/>
              <a:t>訪談內容</a:t>
            </a:r>
            <a:endParaRPr lang="en-US" sz="32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669738B-3FD2-4087-802A-2E5E0C39F5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9487" y="781621"/>
            <a:ext cx="3772513" cy="5294757"/>
          </a:xfrm>
          <a:prstGeom prst="rect">
            <a:avLst/>
          </a:prstGeom>
          <a:noFill/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6851C37-F8FF-44C5-84BD-7B016C90E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3594" y="2152953"/>
            <a:ext cx="3517567" cy="3064505"/>
          </a:xfrm>
        </p:spPr>
        <p:txBody>
          <a:bodyPr>
            <a:noAutofit/>
          </a:bodyPr>
          <a:lstStyle/>
          <a:p>
            <a:r>
              <a:rPr lang="en-US" altLang="zh-TW" sz="2000" i="1" dirty="0">
                <a:effectLst/>
                <a:latin typeface="+mn-ea"/>
                <a:ea typeface="+mn-ea"/>
              </a:rPr>
              <a:t>1.</a:t>
            </a:r>
            <a:r>
              <a:rPr lang="ja-JP" altLang="zh-TW" sz="2000" i="1" dirty="0">
                <a:effectLst/>
                <a:latin typeface="+mn-ea"/>
                <a:ea typeface="+mn-ea"/>
              </a:rPr>
              <a:t>為何選擇Ｐ</a:t>
            </a:r>
            <a:r>
              <a:rPr lang="en-US" altLang="zh-TW" sz="2000" i="1" dirty="0">
                <a:effectLst/>
                <a:latin typeface="+mn-ea"/>
                <a:ea typeface="+mn-ea"/>
              </a:rPr>
              <a:t>-TECH</a:t>
            </a:r>
            <a:r>
              <a:rPr lang="ja-JP" altLang="zh-TW" sz="2000" i="1" dirty="0">
                <a:effectLst/>
                <a:latin typeface="+mn-ea"/>
                <a:ea typeface="+mn-ea"/>
              </a:rPr>
              <a:t>這個學制？</a:t>
            </a:r>
            <a:br>
              <a:rPr lang="zh-TW" altLang="zh-TW" sz="2000" i="1" dirty="0">
                <a:effectLst/>
                <a:latin typeface="+mn-ea"/>
                <a:ea typeface="+mn-ea"/>
              </a:rPr>
            </a:br>
            <a:r>
              <a:rPr lang="zh-TW" altLang="zh-TW" sz="2000" spc="35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  <a:cs typeface="新細明體" panose="02020500000000000000" pitchFamily="18" charset="-120"/>
              </a:rPr>
              <a:t>高科大五專部</a:t>
            </a:r>
            <a:r>
              <a:rPr lang="en-US" altLang="zh-TW" sz="2000" spc="35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  <a:cs typeface="Helvetica Neue"/>
              </a:rPr>
              <a:t>PTECH</a:t>
            </a:r>
            <a:r>
              <a:rPr lang="zh-TW" altLang="zh-TW" sz="2000" spc="35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  <a:cs typeface="新細明體" panose="02020500000000000000" pitchFamily="18" charset="-120"/>
              </a:rPr>
              <a:t>計畫能夠藉由</a:t>
            </a:r>
            <a:r>
              <a:rPr lang="en-US" altLang="zh-TW" sz="2000" spc="35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  <a:cs typeface="Helvetica Neue"/>
              </a:rPr>
              <a:t>STEAM</a:t>
            </a:r>
            <a:r>
              <a:rPr lang="zh-TW" altLang="zh-TW" sz="2000" spc="35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  <a:cs typeface="新細明體" panose="02020500000000000000" pitchFamily="18" charset="-120"/>
              </a:rPr>
              <a:t>教育模式來學習以及提早接觸產業實務，例如在專科五專五年級時，有全學年式實習來提升以後進入職場所需的技能與能力。</a:t>
            </a:r>
            <a:endParaRPr lang="en-US" altLang="zh-TW" sz="2000" dirty="0">
              <a:effectLst/>
              <a:latin typeface="+mn-ea"/>
              <a:ea typeface="+mn-ea"/>
            </a:endParaRPr>
          </a:p>
          <a:p>
            <a:r>
              <a:rPr lang="zh-TW" altLang="zh-TW" sz="1800" b="1" i="1" spc="35" dirty="0">
                <a:ln>
                  <a:noFill/>
                </a:ln>
                <a:solidFill>
                  <a:schemeClr val="bg1"/>
                </a:solidFill>
                <a:effectLst/>
                <a:latin typeface="+mj-ea"/>
                <a:ea typeface="+mj-ea"/>
                <a:cs typeface="Helvetica Neue"/>
              </a:rPr>
              <a:t>2.</a:t>
            </a:r>
            <a:r>
              <a:rPr lang="zh-TW" altLang="zh-TW" sz="1800" b="1" i="1" spc="35" dirty="0">
                <a:ln>
                  <a:noFill/>
                </a:ln>
                <a:solidFill>
                  <a:schemeClr val="bg1"/>
                </a:solidFill>
                <a:effectLst/>
                <a:latin typeface="+mj-ea"/>
                <a:ea typeface="+mj-ea"/>
                <a:cs typeface="Arial Unicode MS"/>
              </a:rPr>
              <a:t>高科大的模具工程科跟高科大大學部的模具工程系差在那邊？</a:t>
            </a:r>
            <a:endParaRPr lang="zh-TW" altLang="zh-TW" sz="1800" b="1" i="1" spc="35" dirty="0">
              <a:ln>
                <a:noFill/>
              </a:ln>
              <a:solidFill>
                <a:schemeClr val="bg1"/>
              </a:solidFill>
              <a:effectLst/>
              <a:latin typeface="+mj-ea"/>
              <a:ea typeface="+mj-ea"/>
              <a:cs typeface="Helvetica Neue"/>
            </a:endParaRP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zh-TW" altLang="zh-TW" sz="1800" spc="35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  <a:cs typeface="新細明體" panose="02020500000000000000" pitchFamily="18" charset="-120"/>
              </a:rPr>
              <a:t>五專部實習為必修課程，採取全學年制度，大學部則是自由選擇實習與否。</a:t>
            </a:r>
            <a:endParaRPr lang="zh-TW" altLang="zh-TW" sz="1800" spc="35" dirty="0">
              <a:ln>
                <a:noFill/>
              </a:ln>
              <a:solidFill>
                <a:schemeClr val="bg1"/>
              </a:solidFill>
              <a:effectLst/>
              <a:latin typeface="+mn-ea"/>
              <a:ea typeface="+mn-ea"/>
              <a:cs typeface="Helvetica Neue"/>
            </a:endParaRP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1726678-0DF2-45E5-8EF7-B488F912F9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4E96419C-65CA-4A96-8C8D-1B83D1EEA06C}" type="datetime1">
              <a:rPr lang="zh-TW" altLang="en-US" smtClean="0"/>
              <a:pPr rtl="0">
                <a:spcAft>
                  <a:spcPts val="600"/>
                </a:spcAft>
              </a:pPr>
              <a:t>2022/1/2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193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9F0744-E831-4435-956A-1F9F40410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916911"/>
          </a:xfrm>
        </p:spPr>
        <p:txBody>
          <a:bodyPr anchor="b">
            <a:normAutofit/>
          </a:bodyPr>
          <a:lstStyle/>
          <a:p>
            <a:r>
              <a:rPr lang="zh-TW" altLang="en-US" sz="1400" dirty="0"/>
              <a:t> </a:t>
            </a:r>
            <a:br>
              <a:rPr lang="en-US" altLang="zh-TW" sz="1400" dirty="0"/>
            </a:br>
            <a:endParaRPr lang="zh-TW" altLang="en-US" sz="1400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6851896-5E44-47F6-BDD1-0E14922B1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4" y="1454970"/>
            <a:ext cx="3517567" cy="3064505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US" altLang="zh-TW" sz="1800" b="1" i="1" spc="35" dirty="0">
                <a:ln>
                  <a:noFill/>
                </a:ln>
                <a:solidFill>
                  <a:schemeClr val="bg1"/>
                </a:solidFill>
                <a:effectLst/>
                <a:latin typeface="+mj-ea"/>
                <a:ea typeface="+mj-ea"/>
                <a:cs typeface="Helvetica Neue"/>
              </a:rPr>
              <a:t>3.P-TECH </a:t>
            </a:r>
            <a:r>
              <a:rPr lang="zh-TW" altLang="zh-TW" sz="1800" b="1" i="1" spc="35" dirty="0">
                <a:ln>
                  <a:noFill/>
                </a:ln>
                <a:solidFill>
                  <a:schemeClr val="bg1"/>
                </a:solidFill>
                <a:effectLst/>
                <a:latin typeface="+mj-ea"/>
                <a:ea typeface="+mj-ea"/>
                <a:cs typeface="Arial Unicode MS"/>
              </a:rPr>
              <a:t>對於你未來的影響？</a:t>
            </a:r>
            <a:br>
              <a:rPr lang="zh-TW" altLang="zh-TW" i="1" dirty="0">
                <a:effectLst/>
                <a:latin typeface="+mj-ea"/>
                <a:ea typeface="+mj-ea"/>
              </a:rPr>
            </a:br>
            <a:r>
              <a:rPr lang="en-US" altLang="zh-TW" sz="1800" spc="35" dirty="0">
                <a:ln>
                  <a:noFill/>
                </a:ln>
                <a:solidFill>
                  <a:schemeClr val="bg1"/>
                </a:solidFill>
                <a:effectLst/>
                <a:latin typeface="+mj-ea"/>
                <a:ea typeface="+mj-ea"/>
                <a:cs typeface="Helvetica Neue"/>
              </a:rPr>
              <a:t>P-TECH</a:t>
            </a:r>
            <a:r>
              <a:rPr lang="zh-TW" altLang="zh-TW" sz="1800" spc="35" dirty="0">
                <a:ln>
                  <a:noFill/>
                </a:ln>
                <a:solidFill>
                  <a:schemeClr val="bg1"/>
                </a:solidFill>
                <a:effectLst/>
                <a:latin typeface="+mj-ea"/>
                <a:ea typeface="+mj-ea"/>
                <a:cs typeface="新細明體" panose="02020500000000000000" pitchFamily="18" charset="-120"/>
              </a:rPr>
              <a:t>教會我實務上的專業，讓我在未來進入職場時能夠具備足夠的技能與能力。</a:t>
            </a:r>
            <a:endParaRPr lang="zh-TW" altLang="zh-TW" sz="1800" spc="35" dirty="0">
              <a:ln>
                <a:noFill/>
              </a:ln>
              <a:solidFill>
                <a:schemeClr val="bg1"/>
              </a:solidFill>
              <a:effectLst/>
              <a:latin typeface="+mj-ea"/>
              <a:ea typeface="+mj-ea"/>
              <a:cs typeface="Helvetica Neue"/>
            </a:endParaRP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US" altLang="zh-TW" sz="1800" b="1" i="1" spc="35" dirty="0">
                <a:ln>
                  <a:noFill/>
                </a:ln>
                <a:solidFill>
                  <a:schemeClr val="bg1"/>
                </a:solidFill>
                <a:effectLst/>
                <a:latin typeface="+mj-ea"/>
                <a:ea typeface="+mj-ea"/>
                <a:cs typeface="Helvetica Neue"/>
              </a:rPr>
              <a:t>4.P-TECH</a:t>
            </a:r>
            <a:r>
              <a:rPr lang="zh-TW" altLang="zh-TW" sz="1800" b="1" i="1" spc="35" dirty="0">
                <a:ln>
                  <a:noFill/>
                </a:ln>
                <a:solidFill>
                  <a:schemeClr val="bg1"/>
                </a:solidFill>
                <a:effectLst/>
                <a:latin typeface="+mj-ea"/>
                <a:ea typeface="+mj-ea"/>
                <a:cs typeface="Arial Unicode MS"/>
              </a:rPr>
              <a:t>教會你的事？</a:t>
            </a:r>
            <a:endParaRPr lang="en-US" altLang="zh-TW" b="1" i="1" spc="35" dirty="0">
              <a:solidFill>
                <a:schemeClr val="bg1"/>
              </a:solidFill>
              <a:latin typeface="+mj-ea"/>
              <a:ea typeface="+mj-ea"/>
              <a:cs typeface="Arial Unicode MS"/>
            </a:endParaRP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US" altLang="zh-TW" sz="1800" spc="35" dirty="0">
                <a:ln>
                  <a:noFill/>
                </a:ln>
                <a:solidFill>
                  <a:schemeClr val="bg1"/>
                </a:solidFill>
                <a:effectLst/>
                <a:latin typeface="+mj-ea"/>
                <a:ea typeface="+mj-ea"/>
                <a:cs typeface="Helvetica Neue"/>
              </a:rPr>
              <a:t>P-TECH</a:t>
            </a:r>
            <a:r>
              <a:rPr lang="zh-TW" altLang="zh-TW" sz="1800" spc="35" dirty="0">
                <a:ln>
                  <a:noFill/>
                </a:ln>
                <a:solidFill>
                  <a:schemeClr val="bg1"/>
                </a:solidFill>
                <a:effectLst/>
                <a:latin typeface="+mj-ea"/>
                <a:ea typeface="+mj-ea"/>
                <a:cs typeface="新細明體" panose="02020500000000000000" pitchFamily="18" charset="-120"/>
              </a:rPr>
              <a:t>教會我業務實際專業，使我學會領導，同時也使我學會如何與他人合作。</a:t>
            </a:r>
            <a:endParaRPr lang="zh-TW" altLang="zh-TW" sz="1800" spc="35" dirty="0">
              <a:ln>
                <a:noFill/>
              </a:ln>
              <a:solidFill>
                <a:schemeClr val="bg1"/>
              </a:solidFill>
              <a:effectLst/>
              <a:latin typeface="+mj-ea"/>
              <a:ea typeface="+mj-ea"/>
              <a:cs typeface="Helvetica Neue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9067BB3-A330-4C63-9055-8FDB72F6DB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42EB3E87-0960-43A6-B33B-AB6B15A82628}" type="datetime1">
              <a:rPr lang="zh-TW" altLang="en-US" smtClean="0"/>
              <a:pPr rtl="0">
                <a:spcAft>
                  <a:spcPts val="600"/>
                </a:spcAft>
              </a:pPr>
              <a:t>2022/1/2</a:t>
            </a:fld>
            <a:endParaRPr lang="en-US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F1521DD0-47B1-44CE-AEDB-B93EA3EDBB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219" y="857823"/>
            <a:ext cx="3530781" cy="49532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51257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9F0744-E831-4435-956A-1F9F40410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17" y="293324"/>
            <a:ext cx="3517567" cy="916911"/>
          </a:xfrm>
        </p:spPr>
        <p:txBody>
          <a:bodyPr anchor="b">
            <a:normAutofit/>
          </a:bodyPr>
          <a:lstStyle/>
          <a:p>
            <a:r>
              <a:rPr lang="zh-TW" altLang="en-US" sz="1400" dirty="0"/>
              <a:t> </a:t>
            </a:r>
            <a:br>
              <a:rPr lang="en-US" altLang="zh-TW" sz="1400" dirty="0"/>
            </a:br>
            <a:endParaRPr lang="zh-TW" altLang="en-US" sz="1400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6851896-5E44-47F6-BDD1-0E14922B1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3818" y="1419111"/>
            <a:ext cx="3517567" cy="3064505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US" altLang="zh-TW" sz="1800" b="1" i="1" spc="35" dirty="0">
                <a:ln>
                  <a:noFill/>
                </a:ln>
                <a:solidFill>
                  <a:schemeClr val="bg1"/>
                </a:solidFill>
                <a:effectLst/>
                <a:latin typeface="+mj-ea"/>
                <a:ea typeface="+mj-ea"/>
                <a:cs typeface="Helvetica Neue"/>
              </a:rPr>
              <a:t>5.</a:t>
            </a:r>
            <a:r>
              <a:rPr lang="zh-TW" altLang="zh-TW" sz="1800" b="1" i="1" spc="35" dirty="0">
                <a:ln>
                  <a:noFill/>
                </a:ln>
                <a:solidFill>
                  <a:schemeClr val="bg1"/>
                </a:solidFill>
                <a:effectLst/>
                <a:latin typeface="+mj-ea"/>
                <a:ea typeface="+mj-ea"/>
                <a:cs typeface="Arial Unicode MS"/>
              </a:rPr>
              <a:t>模具工程科的未來出路？</a:t>
            </a:r>
            <a:endParaRPr lang="zh-TW" altLang="zh-TW" sz="1800" b="1" i="1" spc="35" dirty="0">
              <a:ln>
                <a:noFill/>
              </a:ln>
              <a:solidFill>
                <a:schemeClr val="bg1"/>
              </a:solidFill>
              <a:effectLst/>
              <a:latin typeface="+mj-ea"/>
              <a:ea typeface="+mj-ea"/>
              <a:cs typeface="Helvetica Neue"/>
            </a:endParaRP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zh-TW" altLang="zh-TW" sz="2000" spc="35" dirty="0">
                <a:ln>
                  <a:noFill/>
                </a:ln>
                <a:solidFill>
                  <a:schemeClr val="bg1"/>
                </a:solidFill>
                <a:effectLst/>
                <a:latin typeface="Helvetica Neue"/>
                <a:ea typeface="細明體" panose="02020509000000000000" pitchFamily="49" charset="-120"/>
                <a:cs typeface="新細明體" panose="02020500000000000000" pitchFamily="18" charset="-120"/>
              </a:rPr>
              <a:t>出路主要從事產品設計，例如</a:t>
            </a:r>
            <a:r>
              <a:rPr lang="en-US" altLang="zh-TW" sz="2000" spc="35" dirty="0">
                <a:ln>
                  <a:noFill/>
                </a:ln>
                <a:solidFill>
                  <a:schemeClr val="bg1"/>
                </a:solidFill>
                <a:effectLst/>
                <a:latin typeface="細明體" panose="02020509000000000000" pitchFamily="49" charset="-120"/>
                <a:ea typeface="Helvetica Neue"/>
                <a:cs typeface="Helvetica Neue"/>
              </a:rPr>
              <a:t>:</a:t>
            </a:r>
            <a:r>
              <a:rPr lang="zh-TW" altLang="zh-TW" sz="2000" spc="35" dirty="0">
                <a:ln>
                  <a:noFill/>
                </a:ln>
                <a:solidFill>
                  <a:schemeClr val="bg1"/>
                </a:solidFill>
                <a:effectLst/>
                <a:latin typeface="Helvetica Neue"/>
                <a:ea typeface="細明體" panose="02020509000000000000" pitchFamily="49" charset="-120"/>
                <a:cs typeface="新細明體" panose="02020500000000000000" pitchFamily="18" charset="-120"/>
              </a:rPr>
              <a:t>塑膠射出、鍛造等等。</a:t>
            </a:r>
            <a:endParaRPr lang="zh-TW" altLang="zh-TW" sz="2000" spc="35" dirty="0">
              <a:ln>
                <a:noFill/>
              </a:ln>
              <a:solidFill>
                <a:schemeClr val="bg1"/>
              </a:solidFill>
              <a:effectLst/>
              <a:latin typeface="Helvetica Neue"/>
              <a:ea typeface="Helvetica Neue"/>
              <a:cs typeface="Helvetica Neue"/>
            </a:endParaRP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zh-TW" altLang="zh-TW" sz="1800" b="1" i="1" spc="35" dirty="0">
                <a:ln>
                  <a:noFill/>
                </a:ln>
                <a:solidFill>
                  <a:schemeClr val="bg1"/>
                </a:solidFill>
                <a:effectLst/>
                <a:latin typeface="Helvetica Neue"/>
                <a:ea typeface="細明體" panose="02020509000000000000" pitchFamily="49" charset="-120"/>
                <a:cs typeface="Helvetica Neue"/>
              </a:rPr>
              <a:t>6.</a:t>
            </a:r>
            <a:r>
              <a:rPr lang="zh-TW" altLang="zh-TW" sz="1800" b="1" i="1" spc="35" dirty="0">
                <a:ln>
                  <a:noFill/>
                </a:ln>
                <a:solidFill>
                  <a:schemeClr val="bg1"/>
                </a:solidFill>
                <a:effectLst/>
                <a:latin typeface="Helvetica Neue"/>
                <a:ea typeface="細明體" panose="02020509000000000000" pitchFamily="49" charset="-120"/>
                <a:cs typeface="Arial Unicode MS"/>
              </a:rPr>
              <a:t>高科大</a:t>
            </a:r>
            <a:r>
              <a:rPr lang="en-US" altLang="zh-TW" sz="1800" b="1" i="1" spc="35" dirty="0">
                <a:ln>
                  <a:noFill/>
                </a:ln>
                <a:solidFill>
                  <a:schemeClr val="bg1"/>
                </a:solidFill>
                <a:effectLst/>
                <a:latin typeface="細明體" panose="02020509000000000000" pitchFamily="49" charset="-120"/>
                <a:ea typeface="Helvetica Neue"/>
                <a:cs typeface="Helvetica Neue"/>
              </a:rPr>
              <a:t>P-TECH </a:t>
            </a:r>
            <a:r>
              <a:rPr lang="zh-TW" altLang="zh-TW" sz="1800" b="1" i="1" spc="35" dirty="0">
                <a:ln>
                  <a:noFill/>
                </a:ln>
                <a:solidFill>
                  <a:schemeClr val="bg1"/>
                </a:solidFill>
                <a:effectLst/>
                <a:latin typeface="Helvetica Neue"/>
                <a:ea typeface="細明體" panose="02020509000000000000" pitchFamily="49" charset="-120"/>
                <a:cs typeface="Arial Unicode MS"/>
              </a:rPr>
              <a:t>跟其他學校的</a:t>
            </a:r>
            <a:r>
              <a:rPr lang="en-US" altLang="zh-TW" sz="1800" b="1" i="1" spc="35" dirty="0">
                <a:ln>
                  <a:noFill/>
                </a:ln>
                <a:solidFill>
                  <a:schemeClr val="bg1"/>
                </a:solidFill>
                <a:effectLst/>
                <a:latin typeface="細明體" panose="02020509000000000000" pitchFamily="49" charset="-120"/>
                <a:ea typeface="Helvetica Neue"/>
                <a:cs typeface="Helvetica Neue"/>
              </a:rPr>
              <a:t>P-TECH </a:t>
            </a:r>
            <a:r>
              <a:rPr lang="zh-TW" altLang="zh-TW" sz="1800" b="1" i="1" spc="35" dirty="0">
                <a:ln>
                  <a:noFill/>
                </a:ln>
                <a:solidFill>
                  <a:schemeClr val="bg1"/>
                </a:solidFill>
                <a:effectLst/>
                <a:latin typeface="Helvetica Neue"/>
                <a:ea typeface="細明體" panose="02020509000000000000" pitchFamily="49" charset="-120"/>
                <a:cs typeface="Arial Unicode MS"/>
              </a:rPr>
              <a:t>差別在哪？</a:t>
            </a:r>
            <a:endParaRPr lang="zh-TW" altLang="zh-TW" sz="1800" b="1" i="1" spc="35" dirty="0">
              <a:ln>
                <a:noFill/>
              </a:ln>
              <a:solidFill>
                <a:schemeClr val="bg1"/>
              </a:solidFill>
              <a:effectLst/>
              <a:latin typeface="Helvetica Neue"/>
              <a:ea typeface="Helvetica Neue"/>
              <a:cs typeface="Helvetica Neue"/>
            </a:endParaRP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zh-TW" altLang="zh-TW" sz="2000" spc="35" dirty="0">
                <a:ln>
                  <a:noFill/>
                </a:ln>
                <a:solidFill>
                  <a:schemeClr val="bg1"/>
                </a:solidFill>
                <a:effectLst/>
                <a:latin typeface="Helvetica Neue"/>
                <a:ea typeface="細明體" panose="02020509000000000000" pitchFamily="49" charset="-120"/>
                <a:cs typeface="新細明體" panose="02020500000000000000" pitchFamily="18" charset="-120"/>
              </a:rPr>
              <a:t>本身科系屬於機械類科，</a:t>
            </a:r>
            <a:r>
              <a:rPr lang="en-US" altLang="zh-TW" sz="2000" spc="35" dirty="0">
                <a:ln>
                  <a:noFill/>
                </a:ln>
                <a:solidFill>
                  <a:schemeClr val="bg1"/>
                </a:solidFill>
                <a:effectLst/>
                <a:latin typeface="細明體" panose="02020509000000000000" pitchFamily="49" charset="-120"/>
                <a:ea typeface="Helvetica Neue"/>
                <a:cs typeface="Helvetica Neue"/>
              </a:rPr>
              <a:t>P-TECH</a:t>
            </a:r>
            <a:r>
              <a:rPr lang="zh-TW" altLang="zh-TW" sz="2000" spc="35" dirty="0">
                <a:ln>
                  <a:noFill/>
                </a:ln>
                <a:solidFill>
                  <a:schemeClr val="bg1"/>
                </a:solidFill>
                <a:effectLst/>
                <a:latin typeface="Helvetica Neue"/>
                <a:ea typeface="細明體" panose="02020509000000000000" pitchFamily="49" charset="-120"/>
                <a:cs typeface="新細明體" panose="02020500000000000000" pitchFamily="18" charset="-120"/>
              </a:rPr>
              <a:t>主要教我們職場業務能力以及團隊合作之技巧。</a:t>
            </a:r>
            <a:endParaRPr lang="zh-TW" altLang="zh-TW" sz="2000" spc="35" dirty="0">
              <a:ln>
                <a:noFill/>
              </a:ln>
              <a:solidFill>
                <a:schemeClr val="bg1"/>
              </a:solidFill>
              <a:effectLst/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9067BB3-A330-4C63-9055-8FDB72F6DB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42EB3E87-0960-43A6-B33B-AB6B15A82628}" type="datetime1">
              <a:rPr lang="zh-TW" altLang="en-US" smtClean="0"/>
              <a:pPr rtl="0">
                <a:spcAft>
                  <a:spcPts val="600"/>
                </a:spcAft>
              </a:pPr>
              <a:t>2022/1/2</a:t>
            </a:fld>
            <a:endParaRPr 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F1521DD0-47B1-44CE-AEDB-B93EA3EDBB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219" y="857823"/>
            <a:ext cx="3530781" cy="49532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83105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9F0744-E831-4435-956A-1F9F40410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17" y="293324"/>
            <a:ext cx="3517567" cy="916911"/>
          </a:xfrm>
        </p:spPr>
        <p:txBody>
          <a:bodyPr anchor="b">
            <a:normAutofit/>
          </a:bodyPr>
          <a:lstStyle/>
          <a:p>
            <a:r>
              <a:rPr lang="zh-TW" altLang="en-US" sz="1400" dirty="0"/>
              <a:t> </a:t>
            </a:r>
            <a:br>
              <a:rPr lang="en-US" altLang="zh-TW" sz="1400" dirty="0"/>
            </a:br>
            <a:endParaRPr lang="zh-TW" altLang="en-US" sz="1400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6851896-5E44-47F6-BDD1-0E14922B1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3818" y="1419111"/>
            <a:ext cx="3517567" cy="306450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  <a:tab pos="4876800" algn="l"/>
                <a:tab pos="5181600" algn="l"/>
                <a:tab pos="5486400" algn="l"/>
              </a:tabLst>
            </a:pPr>
            <a:r>
              <a:rPr lang="en-US" altLang="zh-TW" sz="1800" b="1" i="1" kern="100" dirty="0">
                <a:ln>
                  <a:noFill/>
                </a:ln>
                <a:solidFill>
                  <a:schemeClr val="bg1"/>
                </a:solidFill>
                <a:effectLst/>
                <a:latin typeface="+mj-ea"/>
                <a:ea typeface="+mj-ea"/>
                <a:cs typeface="Arial Unicode MS"/>
              </a:rPr>
              <a:t>7.</a:t>
            </a:r>
            <a:r>
              <a:rPr lang="zh-TW" altLang="zh-TW" sz="1800" b="1" i="1" kern="100" dirty="0">
                <a:ln>
                  <a:noFill/>
                </a:ln>
                <a:solidFill>
                  <a:schemeClr val="bg1"/>
                </a:solidFill>
                <a:effectLst/>
                <a:latin typeface="+mj-ea"/>
                <a:ea typeface="+mj-ea"/>
                <a:cs typeface="Arial Unicode MS"/>
              </a:rPr>
              <a:t>當初是選擇國立高雄科技大學的目的及契機是什麼</a:t>
            </a:r>
            <a:r>
              <a:rPr lang="en-US" altLang="zh-TW" sz="1800" b="1" i="1" kern="100" dirty="0">
                <a:ln>
                  <a:noFill/>
                </a:ln>
                <a:solidFill>
                  <a:schemeClr val="bg1"/>
                </a:solidFill>
                <a:effectLst/>
                <a:latin typeface="+mj-ea"/>
                <a:ea typeface="+mj-ea"/>
                <a:cs typeface="Arial Unicode MS"/>
              </a:rPr>
              <a:t>?</a:t>
            </a:r>
            <a:endParaRPr lang="zh-TW" altLang="zh-TW" sz="1800" b="1" i="1" dirty="0">
              <a:ln>
                <a:noFill/>
              </a:ln>
              <a:solidFill>
                <a:schemeClr val="bg1"/>
              </a:solidFill>
              <a:effectLst/>
              <a:latin typeface="+mj-ea"/>
              <a:ea typeface="+mj-ea"/>
              <a:cs typeface="Arial Unicode MS"/>
            </a:endParaRP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zh-TW" altLang="zh-TW" sz="2000" spc="35" dirty="0">
                <a:ln>
                  <a:noFill/>
                </a:ln>
                <a:solidFill>
                  <a:schemeClr val="bg1"/>
                </a:solidFill>
                <a:effectLst/>
                <a:latin typeface="+mj-ea"/>
                <a:ea typeface="+mj-ea"/>
                <a:cs typeface="新細明體" panose="02020500000000000000" pitchFamily="18" charset="-120"/>
              </a:rPr>
              <a:t>喜歡五專畢業即就業的這個優點，同時也喜歡透過實作來學習專業技能。</a:t>
            </a:r>
            <a:endParaRPr lang="zh-TW" altLang="zh-TW" sz="2000" spc="35" dirty="0">
              <a:ln>
                <a:noFill/>
              </a:ln>
              <a:solidFill>
                <a:schemeClr val="bg1"/>
              </a:solidFill>
              <a:effectLst/>
              <a:latin typeface="+mj-ea"/>
              <a:ea typeface="+mj-ea"/>
              <a:cs typeface="Helvetica Neue"/>
            </a:endParaRPr>
          </a:p>
          <a:p>
            <a:pPr>
              <a:lnSpc>
                <a:spcPct val="120000"/>
              </a:lnSpc>
              <a:spcBef>
                <a:spcPts val="80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  <a:tab pos="4876800" algn="l"/>
                <a:tab pos="5181600" algn="l"/>
                <a:tab pos="5486400" algn="l"/>
              </a:tabLst>
            </a:pPr>
            <a:r>
              <a:rPr lang="en-US" altLang="zh-TW" sz="1800" b="1" i="1" kern="100" dirty="0">
                <a:ln>
                  <a:noFill/>
                </a:ln>
                <a:solidFill>
                  <a:schemeClr val="bg1"/>
                </a:solidFill>
                <a:effectLst/>
                <a:latin typeface="+mj-ea"/>
                <a:ea typeface="+mj-ea"/>
                <a:cs typeface="Arial Unicode MS"/>
              </a:rPr>
              <a:t>8.</a:t>
            </a:r>
            <a:r>
              <a:rPr lang="zh-TW" altLang="zh-TW" sz="1800" b="1" i="1" kern="100" dirty="0">
                <a:ln>
                  <a:noFill/>
                </a:ln>
                <a:solidFill>
                  <a:schemeClr val="bg1"/>
                </a:solidFill>
                <a:effectLst/>
                <a:latin typeface="+mj-ea"/>
                <a:ea typeface="+mj-ea"/>
                <a:cs typeface="Arial Unicode MS"/>
              </a:rPr>
              <a:t>對於目前有哪一個競賽是最記憶猶新且想到會很興奮的</a:t>
            </a:r>
            <a:r>
              <a:rPr lang="en-US" altLang="zh-TW" sz="1800" b="1" i="1" kern="100" dirty="0">
                <a:ln>
                  <a:noFill/>
                </a:ln>
                <a:solidFill>
                  <a:schemeClr val="bg1"/>
                </a:solidFill>
                <a:effectLst/>
                <a:latin typeface="+mj-ea"/>
                <a:ea typeface="+mj-ea"/>
                <a:cs typeface="Arial Unicode MS"/>
              </a:rPr>
              <a:t>?</a:t>
            </a:r>
            <a:endParaRPr lang="zh-TW" altLang="zh-TW" sz="1800" b="1" i="1" dirty="0">
              <a:ln>
                <a:noFill/>
              </a:ln>
              <a:solidFill>
                <a:schemeClr val="bg1"/>
              </a:solidFill>
              <a:effectLst/>
              <a:latin typeface="+mj-ea"/>
              <a:ea typeface="+mj-ea"/>
              <a:cs typeface="Arial Unicode MS"/>
            </a:endParaRPr>
          </a:p>
          <a:p>
            <a:pPr>
              <a:spcAft>
                <a:spcPts val="1200"/>
              </a:spcAft>
            </a:pPr>
            <a:r>
              <a:rPr lang="zh-TW" altLang="zh-TW" sz="2000" spc="35" dirty="0">
                <a:ln>
                  <a:noFill/>
                </a:ln>
                <a:solidFill>
                  <a:schemeClr val="bg1"/>
                </a:solidFill>
                <a:effectLst/>
                <a:latin typeface="+mj-ea"/>
                <a:ea typeface="+mj-ea"/>
                <a:cs typeface="新細明體" panose="02020500000000000000" pitchFamily="18" charset="-120"/>
              </a:rPr>
              <a:t>得到冠軍的那一次競賽，因為那是我們團隊得到最大獎項的一次。</a:t>
            </a:r>
            <a:endParaRPr lang="zh-TW" altLang="zh-TW" sz="2000" spc="35" dirty="0">
              <a:ln>
                <a:noFill/>
              </a:ln>
              <a:solidFill>
                <a:schemeClr val="bg1"/>
              </a:solidFill>
              <a:effectLst/>
              <a:latin typeface="+mj-ea"/>
              <a:ea typeface="+mj-ea"/>
              <a:cs typeface="Helvetica Neue"/>
            </a:endParaRP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zh-TW" altLang="zh-TW" sz="1800" spc="35" dirty="0">
                <a:ln>
                  <a:noFill/>
                </a:ln>
                <a:solidFill>
                  <a:srgbClr val="000000"/>
                </a:solidFill>
                <a:effectLst/>
                <a:latin typeface="Helvetica Neue"/>
                <a:ea typeface="細明體" panose="02020509000000000000" pitchFamily="49" charset="-120"/>
                <a:cs typeface="新細明體" panose="02020500000000000000" pitchFamily="18" charset="-120"/>
              </a:rPr>
              <a:t>。</a:t>
            </a:r>
            <a:endParaRPr lang="zh-TW" altLang="zh-TW" sz="1800" spc="35" dirty="0">
              <a:ln>
                <a:noFill/>
              </a:ln>
              <a:solidFill>
                <a:srgbClr val="000000"/>
              </a:solidFill>
              <a:effectLst/>
              <a:latin typeface="Helvetica Neue"/>
              <a:ea typeface="Helvetica Neue"/>
              <a:cs typeface="Helvetica Neue"/>
            </a:endParaRPr>
          </a:p>
          <a:p>
            <a:pPr marL="228600">
              <a:spcAft>
                <a:spcPts val="18500"/>
              </a:spcAft>
            </a:pPr>
            <a:endParaRPr lang="zh-TW" altLang="zh-TW" sz="1800" dirty="0">
              <a:solidFill>
                <a:schemeClr val="bg1"/>
              </a:solidFill>
              <a:effectLst/>
              <a:latin typeface="Verdana" panose="020B0604030504040204" pitchFamily="34" charset="0"/>
              <a:ea typeface="微軟正黑體" panose="020B0604030504040204" pitchFamily="34" charset="-120"/>
              <a:cs typeface="FreesiaUPC" panose="020B0604020202020204" pitchFamily="34" charset="-34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9067BB3-A330-4C63-9055-8FDB72F6DB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42EB3E87-0960-43A6-B33B-AB6B15A82628}" type="datetime1">
              <a:rPr lang="zh-TW" altLang="en-US" smtClean="0"/>
              <a:pPr rtl="0">
                <a:spcAft>
                  <a:spcPts val="600"/>
                </a:spcAft>
              </a:pPr>
              <a:t>2022/1/2</a:t>
            </a:fld>
            <a:endParaRPr lang="en-US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F1521DD0-47B1-44CE-AEDB-B93EA3EDBB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219" y="857823"/>
            <a:ext cx="3530781" cy="49532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60809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9F0744-E831-4435-956A-1F9F40410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17" y="293324"/>
            <a:ext cx="3517567" cy="916911"/>
          </a:xfrm>
        </p:spPr>
        <p:txBody>
          <a:bodyPr anchor="b">
            <a:normAutofit/>
          </a:bodyPr>
          <a:lstStyle/>
          <a:p>
            <a:r>
              <a:rPr lang="zh-TW" altLang="en-US" sz="1400" dirty="0"/>
              <a:t> </a:t>
            </a:r>
            <a:br>
              <a:rPr lang="en-US" altLang="zh-TW" sz="1400" dirty="0"/>
            </a:br>
            <a:endParaRPr lang="zh-TW" altLang="en-US" sz="1400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6851896-5E44-47F6-BDD1-0E14922B1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3817" y="1463935"/>
            <a:ext cx="3517567" cy="306450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  <a:tab pos="4876800" algn="l"/>
                <a:tab pos="5181600" algn="l"/>
                <a:tab pos="5486400" algn="l"/>
              </a:tabLst>
            </a:pPr>
            <a:r>
              <a:rPr lang="zh-TW" altLang="zh-TW" sz="1800" b="1" i="1" kern="100" dirty="0">
                <a:ln>
                  <a:noFill/>
                </a:ln>
                <a:solidFill>
                  <a:schemeClr val="bg1"/>
                </a:solidFill>
                <a:effectLst/>
                <a:latin typeface="+mj-ea"/>
                <a:ea typeface="+mj-ea"/>
                <a:cs typeface="Arial Unicode MS"/>
              </a:rPr>
              <a:t>9</a:t>
            </a:r>
            <a:r>
              <a:rPr lang="en-US" altLang="zh-TW" sz="1800" b="1" i="1" kern="100" dirty="0">
                <a:ln>
                  <a:noFill/>
                </a:ln>
                <a:solidFill>
                  <a:schemeClr val="bg1"/>
                </a:solidFill>
                <a:effectLst/>
                <a:latin typeface="+mj-ea"/>
                <a:ea typeface="+mj-ea"/>
                <a:cs typeface="Arial Unicode MS"/>
              </a:rPr>
              <a:t>. Open-PTECH</a:t>
            </a:r>
            <a:r>
              <a:rPr lang="zh-TW" altLang="zh-TW" sz="1800" b="1" i="1" kern="100" dirty="0">
                <a:ln>
                  <a:noFill/>
                </a:ln>
                <a:solidFill>
                  <a:schemeClr val="bg1"/>
                </a:solidFill>
                <a:effectLst/>
                <a:latin typeface="+mj-ea"/>
                <a:ea typeface="+mj-ea"/>
                <a:cs typeface="Arial Unicode MS"/>
              </a:rPr>
              <a:t>教育平台帶給你什麼樣的影響？</a:t>
            </a:r>
            <a:endParaRPr lang="zh-TW" altLang="zh-TW" sz="1800" b="1" i="1" dirty="0">
              <a:ln>
                <a:noFill/>
              </a:ln>
              <a:solidFill>
                <a:schemeClr val="bg1"/>
              </a:solidFill>
              <a:effectLst/>
              <a:latin typeface="+mj-ea"/>
              <a:ea typeface="+mj-ea"/>
              <a:cs typeface="Arial Unicode MS"/>
            </a:endParaRP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zh-TW" altLang="zh-TW" sz="1800" spc="35" dirty="0">
                <a:ln>
                  <a:noFill/>
                </a:ln>
                <a:solidFill>
                  <a:schemeClr val="bg1"/>
                </a:solidFill>
                <a:effectLst/>
                <a:latin typeface="+mj-ea"/>
                <a:ea typeface="+mj-ea"/>
                <a:cs typeface="新細明體" panose="02020500000000000000" pitchFamily="18" charset="-120"/>
              </a:rPr>
              <a:t>這個平台能夠讓我們學習我們想要學習的知識與技能，例如</a:t>
            </a:r>
            <a:r>
              <a:rPr lang="en-US" altLang="zh-TW" sz="1800" spc="35" dirty="0">
                <a:ln>
                  <a:noFill/>
                </a:ln>
                <a:solidFill>
                  <a:schemeClr val="bg1"/>
                </a:solidFill>
                <a:effectLst/>
                <a:latin typeface="+mj-ea"/>
                <a:ea typeface="+mj-ea"/>
                <a:cs typeface="Helvetica Neue"/>
              </a:rPr>
              <a:t>:</a:t>
            </a:r>
            <a:r>
              <a:rPr lang="zh-TW" altLang="zh-TW" sz="1800" spc="35" dirty="0">
                <a:ln>
                  <a:noFill/>
                </a:ln>
                <a:solidFill>
                  <a:schemeClr val="bg1"/>
                </a:solidFill>
                <a:effectLst/>
                <a:latin typeface="+mj-ea"/>
                <a:ea typeface="+mj-ea"/>
                <a:cs typeface="新細明體" panose="02020500000000000000" pitchFamily="18" charset="-120"/>
              </a:rPr>
              <a:t>簡報技巧。</a:t>
            </a:r>
            <a:endParaRPr lang="zh-TW" altLang="zh-TW" sz="1800" spc="35" dirty="0">
              <a:ln>
                <a:noFill/>
              </a:ln>
              <a:solidFill>
                <a:schemeClr val="bg1"/>
              </a:solidFill>
              <a:effectLst/>
              <a:latin typeface="+mj-ea"/>
              <a:ea typeface="+mj-ea"/>
              <a:cs typeface="Helvetica Neue"/>
            </a:endParaRPr>
          </a:p>
          <a:p>
            <a:pPr>
              <a:lnSpc>
                <a:spcPct val="120000"/>
              </a:lnSpc>
              <a:spcBef>
                <a:spcPts val="800"/>
              </a:spcBef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  <a:tab pos="4876800" algn="l"/>
                <a:tab pos="5181600" algn="l"/>
                <a:tab pos="5486400" algn="l"/>
              </a:tabLst>
            </a:pPr>
            <a:r>
              <a:rPr lang="en-US" altLang="zh-TW" sz="1800" b="1" i="1" kern="100" dirty="0">
                <a:ln>
                  <a:noFill/>
                </a:ln>
                <a:solidFill>
                  <a:schemeClr val="bg1"/>
                </a:solidFill>
                <a:effectLst/>
                <a:latin typeface="+mj-ea"/>
                <a:ea typeface="+mj-ea"/>
                <a:cs typeface="Arial Unicode MS"/>
              </a:rPr>
              <a:t>10.</a:t>
            </a:r>
            <a:r>
              <a:rPr lang="zh-TW" altLang="zh-TW" sz="1800" b="1" i="1" kern="100" dirty="0">
                <a:ln>
                  <a:noFill/>
                </a:ln>
                <a:solidFill>
                  <a:schemeClr val="bg1"/>
                </a:solidFill>
                <a:effectLst/>
                <a:latin typeface="+mj-ea"/>
                <a:ea typeface="+mj-ea"/>
                <a:cs typeface="Arial Unicode MS"/>
              </a:rPr>
              <a:t>有什麼鼓勵的話</a:t>
            </a:r>
            <a:r>
              <a:rPr lang="en-US" altLang="zh-TW" sz="1800" b="1" i="1" kern="100" dirty="0">
                <a:ln>
                  <a:noFill/>
                </a:ln>
                <a:solidFill>
                  <a:schemeClr val="bg1"/>
                </a:solidFill>
                <a:effectLst/>
                <a:latin typeface="+mj-ea"/>
                <a:ea typeface="+mj-ea"/>
                <a:cs typeface="Arial Unicode MS"/>
              </a:rPr>
              <a:t>?</a:t>
            </a:r>
            <a:r>
              <a:rPr lang="zh-TW" altLang="zh-TW" sz="1800" b="1" i="1" kern="100" dirty="0">
                <a:ln>
                  <a:noFill/>
                </a:ln>
                <a:solidFill>
                  <a:schemeClr val="bg1"/>
                </a:solidFill>
                <a:effectLst/>
                <a:latin typeface="+mj-ea"/>
                <a:ea typeface="+mj-ea"/>
                <a:cs typeface="Arial Unicode MS"/>
              </a:rPr>
              <a:t>想對目前還找不到方向的學弟妹說</a:t>
            </a:r>
            <a:r>
              <a:rPr lang="en-US" altLang="zh-TW" sz="1800" b="1" i="1" kern="100" dirty="0">
                <a:ln>
                  <a:noFill/>
                </a:ln>
                <a:solidFill>
                  <a:schemeClr val="bg1"/>
                </a:solidFill>
                <a:effectLst/>
                <a:latin typeface="+mj-ea"/>
                <a:ea typeface="+mj-ea"/>
                <a:cs typeface="Arial Unicode MS"/>
              </a:rPr>
              <a:t>?</a:t>
            </a:r>
            <a:endParaRPr lang="zh-TW" altLang="zh-TW" sz="1800" b="1" i="1" dirty="0">
              <a:ln>
                <a:noFill/>
              </a:ln>
              <a:solidFill>
                <a:schemeClr val="bg1"/>
              </a:solidFill>
              <a:effectLst/>
              <a:latin typeface="+mj-ea"/>
              <a:ea typeface="+mj-ea"/>
              <a:cs typeface="Arial Unicode MS"/>
            </a:endParaRP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zh-TW" altLang="zh-TW" sz="1800" spc="35" dirty="0">
                <a:ln>
                  <a:noFill/>
                </a:ln>
                <a:solidFill>
                  <a:schemeClr val="bg1"/>
                </a:solidFill>
                <a:effectLst/>
                <a:latin typeface="+mj-ea"/>
                <a:ea typeface="+mj-ea"/>
                <a:cs typeface="新細明體" panose="02020500000000000000" pitchFamily="18" charset="-120"/>
              </a:rPr>
              <a:t>好好學習目前的專業課程。</a:t>
            </a:r>
            <a:endParaRPr lang="zh-TW" altLang="zh-TW" sz="1800" spc="35" dirty="0">
              <a:ln>
                <a:noFill/>
              </a:ln>
              <a:solidFill>
                <a:schemeClr val="bg1"/>
              </a:solidFill>
              <a:effectLst/>
              <a:latin typeface="+mj-ea"/>
              <a:ea typeface="+mj-ea"/>
              <a:cs typeface="Helvetica Neue"/>
            </a:endParaRPr>
          </a:p>
          <a:p>
            <a:pPr marL="228600">
              <a:lnSpc>
                <a:spcPct val="130000"/>
              </a:lnSpc>
              <a:spcAft>
                <a:spcPts val="1000"/>
              </a:spcAft>
            </a:pPr>
            <a:endParaRPr lang="zh-TW" altLang="zh-TW" sz="1800" dirty="0">
              <a:solidFill>
                <a:schemeClr val="bg1"/>
              </a:solidFill>
              <a:effectLst/>
              <a:latin typeface="Verdana" panose="020B0604030504040204" pitchFamily="34" charset="0"/>
              <a:ea typeface="微軟正黑體" panose="020B0604030504040204" pitchFamily="34" charset="-120"/>
              <a:cs typeface="FreesiaUPC" panose="020B0604020202020204" pitchFamily="34" charset="-34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9067BB3-A330-4C63-9055-8FDB72F6DB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42EB3E87-0960-43A6-B33B-AB6B15A82628}" type="datetime1">
              <a:rPr lang="zh-TW" altLang="en-US" smtClean="0"/>
              <a:pPr rtl="0">
                <a:spcAft>
                  <a:spcPts val="600"/>
                </a:spcAft>
              </a:pPr>
              <a:t>2022/1/2</a:t>
            </a:fld>
            <a:endParaRPr lang="en-US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F1521DD0-47B1-44CE-AEDB-B93EA3EDBB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219" y="857823"/>
            <a:ext cx="3530781" cy="49532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07023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D637B421-4252-47C0-A353-3935506C4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zh-TW" altLang="en-US" dirty="0"/>
              <a:t> </a:t>
            </a:r>
            <a:br>
              <a:rPr lang="en-US" altLang="zh-TW" dirty="0"/>
            </a:br>
            <a:r>
              <a:rPr lang="zh-TW" altLang="en-US"/>
              <a:t>訪談資訊</a:t>
            </a:r>
            <a:endParaRPr lang="en-US" dirty="0"/>
          </a:p>
        </p:txBody>
      </p:sp>
      <p:pic>
        <p:nvPicPr>
          <p:cNvPr id="6" name="圖片 5" descr="一張含有 個人, 坐, 膝上型電腦, 室內 的圖片&#10;&#10;自動產生的描述">
            <a:extLst>
              <a:ext uri="{FF2B5EF4-FFF2-40B4-BE49-F238E27FC236}">
                <a16:creationId xmlns:a16="http://schemas.microsoft.com/office/drawing/2014/main" id="{6A84D478-872B-4A9C-AE06-DB43B1A20F3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024" b="-1"/>
          <a:stretch/>
        </p:blipFill>
        <p:spPr>
          <a:xfrm>
            <a:off x="5458984" y="812799"/>
            <a:ext cx="5928344" cy="5294757"/>
          </a:xfrm>
          <a:prstGeom prst="rect">
            <a:avLst/>
          </a:prstGeom>
          <a:noFill/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1B359F-4AE1-4A0E-A4C2-B1C3CEAB7E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pPr>
              <a:spcAft>
                <a:spcPts val="1000"/>
              </a:spcAft>
            </a:pPr>
            <a:r>
              <a:rPr lang="ja-JP" altLang="zh-TW" kern="50" spc="-65" dirty="0">
                <a:effectLst/>
              </a:rPr>
              <a:t>訪談日期：</a:t>
            </a:r>
            <a:r>
              <a:rPr lang="en-US" altLang="zh-TW" kern="50" spc="-65" dirty="0">
                <a:effectLst/>
              </a:rPr>
              <a:t>2021/12/18</a:t>
            </a:r>
            <a:endParaRPr lang="zh-TW" altLang="zh-TW" dirty="0">
              <a:effectLst/>
            </a:endParaRPr>
          </a:p>
          <a:p>
            <a:r>
              <a:rPr lang="ja-JP" altLang="zh-TW" b="0" kern="50" spc="-65" dirty="0">
                <a:effectLst/>
              </a:rPr>
              <a:t>訪談方式：</a:t>
            </a:r>
            <a:r>
              <a:rPr lang="en-US" altLang="zh-TW" b="0" kern="50" spc="-65" dirty="0">
                <a:effectLst/>
              </a:rPr>
              <a:t>google meet</a:t>
            </a:r>
            <a:r>
              <a:rPr lang="ja-JP" altLang="zh-TW" b="0" kern="50" spc="-65" dirty="0">
                <a:effectLst/>
              </a:rPr>
              <a:t>線上訪</a:t>
            </a:r>
            <a:r>
              <a:rPr lang="zh-TW" altLang="zh-TW" b="0" kern="50" spc="-65" dirty="0">
                <a:effectLst/>
              </a:rPr>
              <a:t>談</a:t>
            </a:r>
            <a:endParaRPr lang="en-US" altLang="zh-TW" b="0" kern="50" spc="-65" dirty="0">
              <a:effectLst/>
            </a:endParaRPr>
          </a:p>
          <a:p>
            <a:r>
              <a:rPr lang="ja-JP" altLang="zh-TW" kern="50" spc="-50" dirty="0">
                <a:effectLst/>
              </a:rPr>
              <a:t>採訪團隊：國立台中科技大學 </a:t>
            </a:r>
            <a:endParaRPr lang="en-US" altLang="ja-JP" kern="50" spc="-50" dirty="0">
              <a:effectLst/>
            </a:endParaRPr>
          </a:p>
          <a:p>
            <a:r>
              <a:rPr lang="ja-JP" altLang="zh-TW" kern="50" spc="-50" dirty="0">
                <a:effectLst/>
              </a:rPr>
              <a:t>資訊工程科</a:t>
            </a:r>
            <a:r>
              <a:rPr lang="en-US" altLang="zh-TW" kern="50" spc="-50" dirty="0">
                <a:effectLst/>
              </a:rPr>
              <a:t> NUTC-TECH</a:t>
            </a:r>
            <a:r>
              <a:rPr lang="zh-TW" altLang="zh-TW" kern="50" spc="-50" dirty="0">
                <a:effectLst/>
              </a:rPr>
              <a:t>小組</a:t>
            </a:r>
            <a:endParaRPr lang="zh-TW" altLang="zh-TW" dirty="0">
              <a:effectLst/>
            </a:endParaRPr>
          </a:p>
          <a:p>
            <a:endParaRPr lang="zh-TW" altLang="zh-TW" b="1" dirty="0">
              <a:effectLst/>
            </a:endParaRPr>
          </a:p>
          <a:p>
            <a:endParaRPr lang="zh-TW" altLang="en-US" dirty="0"/>
          </a:p>
        </p:txBody>
      </p:sp>
      <p:sp>
        <p:nvSpPr>
          <p:cNvPr id="16" name="Date Placeholder 4">
            <a:extLst>
              <a:ext uri="{FF2B5EF4-FFF2-40B4-BE49-F238E27FC236}">
                <a16:creationId xmlns:a16="http://schemas.microsoft.com/office/drawing/2014/main" id="{86A6F32F-28B8-4BFD-8A1A-76F6BF90C7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4E96419C-65CA-4A96-8C8D-1B83D1EEA06C}" type="datetime1">
              <a:rPr lang="zh-TW" altLang="en-US" smtClean="0"/>
              <a:pPr rtl="0">
                <a:spcAft>
                  <a:spcPts val="600"/>
                </a:spcAft>
              </a:pPr>
              <a:t>2022/1/2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019302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65_TF56160789.potx" id="{C03BE16E-05B7-438C-85CB-7604B66C50C5}" vid="{E3EA7662-8E7E-4B1D-9203-FBA998A86136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{68E5AEA4-2509-484A-A414-BE1EF9F522B1}tf56160789_win32</Template>
  <TotalTime>289</TotalTime>
  <Words>463</Words>
  <Application>Microsoft Office PowerPoint</Application>
  <PresentationFormat>寬螢幕</PresentationFormat>
  <Paragraphs>41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8" baseType="lpstr">
      <vt:lpstr>Helvetica Neue</vt:lpstr>
      <vt:lpstr>Microsoft JhengHei UI</vt:lpstr>
      <vt:lpstr>ＭＳ Ｐゴシック</vt:lpstr>
      <vt:lpstr>細明體</vt:lpstr>
      <vt:lpstr>細明體</vt:lpstr>
      <vt:lpstr>新細明體</vt:lpstr>
      <vt:lpstr>Calibri</vt:lpstr>
      <vt:lpstr>Franklin Gothic Book</vt:lpstr>
      <vt:lpstr>Verdana</vt:lpstr>
      <vt:lpstr>1_RetrospectVTI</vt:lpstr>
      <vt:lpstr>受訪者:高雄科技大學五專部模具工程科</vt:lpstr>
      <vt:lpstr>訪談 主題              學制 經驗 分享     </vt:lpstr>
      <vt:lpstr>訪談內容</vt:lpstr>
      <vt:lpstr>  </vt:lpstr>
      <vt:lpstr>  </vt:lpstr>
      <vt:lpstr>  </vt:lpstr>
      <vt:lpstr>  </vt:lpstr>
      <vt:lpstr>  訪談資訊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標題 Lorem Ipsum</dc:title>
  <dc:creator>andy Chen</dc:creator>
  <cp:lastModifiedBy>andy Chen</cp:lastModifiedBy>
  <cp:revision>4</cp:revision>
  <dcterms:created xsi:type="dcterms:W3CDTF">2021-12-27T13:30:40Z</dcterms:created>
  <dcterms:modified xsi:type="dcterms:W3CDTF">2022-01-02T07:32:02Z</dcterms:modified>
</cp:coreProperties>
</file>