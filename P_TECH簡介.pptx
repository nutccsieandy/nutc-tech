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E92762-A31A-4AFA-AED7-A63EFE62CFBA}" v="254" dt="2022-01-11T01:16:07.9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3" autoAdjust="0"/>
    <p:restoredTop sz="94660"/>
  </p:normalViewPr>
  <p:slideViewPr>
    <p:cSldViewPr snapToGrid="0">
      <p:cViewPr varScale="1">
        <p:scale>
          <a:sx n="85" d="100"/>
          <a:sy n="85" d="100"/>
        </p:scale>
        <p:origin x="78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561D8E-E8E4-4147-A30C-73C8B7141A35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673415F3-8E2A-43AC-9894-666084E5310C}">
      <dgm:prSet/>
      <dgm:spPr/>
      <dgm:t>
        <a:bodyPr/>
        <a:lstStyle/>
        <a:p>
          <a:r>
            <a:rPr lang="zh-TW"/>
            <a:t>•年輕人明白需要通過獲得技能和教育來為職場做準備,但很大比例的人沒有獲得大學學位。按時、全國社區高校畢業率為13%。低收入學生的畢業率明顯較低。</a:t>
          </a:r>
          <a:endParaRPr lang="en-US"/>
        </a:p>
      </dgm:t>
    </dgm:pt>
    <dgm:pt modelId="{CBABC4BB-CB93-453C-A96A-68722831B37B}" type="parTrans" cxnId="{0A893C08-E306-437C-B993-B46E07C358DD}">
      <dgm:prSet/>
      <dgm:spPr/>
      <dgm:t>
        <a:bodyPr/>
        <a:lstStyle/>
        <a:p>
          <a:endParaRPr lang="en-US"/>
        </a:p>
      </dgm:t>
    </dgm:pt>
    <dgm:pt modelId="{6C3FB4C6-EF87-4801-ADB0-A1D7E1AC2E46}" type="sibTrans" cxnId="{0A893C08-E306-437C-B993-B46E07C358DD}">
      <dgm:prSet/>
      <dgm:spPr/>
      <dgm:t>
        <a:bodyPr/>
        <a:lstStyle/>
        <a:p>
          <a:endParaRPr lang="en-US"/>
        </a:p>
      </dgm:t>
    </dgm:pt>
    <dgm:pt modelId="{A9040F9B-EF17-4A58-9E83-F8A7961514E6}">
      <dgm:prSet/>
      <dgm:spPr/>
      <dgm:t>
        <a:bodyPr/>
        <a:lstStyle/>
        <a:p>
          <a:r>
            <a:rPr lang="zh-TW"/>
            <a:t>•為了提供教育和勞動力發展的整體方法,IBM、紐約市教育部和紐約市立大學於2011年9月在紐約布魯克林設計並創辦了第一所P-TECH學校,第一班於2017年6月畢業。</a:t>
          </a:r>
          <a:endParaRPr lang="en-US"/>
        </a:p>
      </dgm:t>
    </dgm:pt>
    <dgm:pt modelId="{5690E099-6614-4217-89E9-41357631D3CF}" type="parTrans" cxnId="{63B6BFBD-3154-459F-B54E-A2DBA5C8242E}">
      <dgm:prSet/>
      <dgm:spPr/>
      <dgm:t>
        <a:bodyPr/>
        <a:lstStyle/>
        <a:p>
          <a:endParaRPr lang="en-US"/>
        </a:p>
      </dgm:t>
    </dgm:pt>
    <dgm:pt modelId="{EBF9FC25-BB5A-4F2E-9C6F-35522C5D5343}" type="sibTrans" cxnId="{63B6BFBD-3154-459F-B54E-A2DBA5C8242E}">
      <dgm:prSet/>
      <dgm:spPr/>
      <dgm:t>
        <a:bodyPr/>
        <a:lstStyle/>
        <a:p>
          <a:endParaRPr lang="en-US"/>
        </a:p>
      </dgm:t>
    </dgm:pt>
    <dgm:pt modelId="{FD300526-D2B0-4D20-8860-6B6D594146C7}" type="pres">
      <dgm:prSet presAssocID="{1C561D8E-E8E4-4147-A30C-73C8B7141A35}" presName="linear" presStyleCnt="0">
        <dgm:presLayoutVars>
          <dgm:animLvl val="lvl"/>
          <dgm:resizeHandles val="exact"/>
        </dgm:presLayoutVars>
      </dgm:prSet>
      <dgm:spPr/>
    </dgm:pt>
    <dgm:pt modelId="{BF089E0A-2D6F-46F3-9719-FDF1AA93B182}" type="pres">
      <dgm:prSet presAssocID="{673415F3-8E2A-43AC-9894-666084E5310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3D911A6-DF07-4B74-A345-A32A88A14C10}" type="pres">
      <dgm:prSet presAssocID="{6C3FB4C6-EF87-4801-ADB0-A1D7E1AC2E46}" presName="spacer" presStyleCnt="0"/>
      <dgm:spPr/>
    </dgm:pt>
    <dgm:pt modelId="{3FD5A76F-CCD5-4842-A27A-A212CE82ED56}" type="pres">
      <dgm:prSet presAssocID="{A9040F9B-EF17-4A58-9E83-F8A7961514E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893C08-E306-437C-B993-B46E07C358DD}" srcId="{1C561D8E-E8E4-4147-A30C-73C8B7141A35}" destId="{673415F3-8E2A-43AC-9894-666084E5310C}" srcOrd="0" destOrd="0" parTransId="{CBABC4BB-CB93-453C-A96A-68722831B37B}" sibTransId="{6C3FB4C6-EF87-4801-ADB0-A1D7E1AC2E46}"/>
    <dgm:cxn modelId="{98243C0E-5F43-4227-A925-758F8159DA23}" type="presOf" srcId="{673415F3-8E2A-43AC-9894-666084E5310C}" destId="{BF089E0A-2D6F-46F3-9719-FDF1AA93B182}" srcOrd="0" destOrd="0" presId="urn:microsoft.com/office/officeart/2005/8/layout/vList2"/>
    <dgm:cxn modelId="{5E6CF03C-4690-499E-AF0F-54CD348C9155}" type="presOf" srcId="{A9040F9B-EF17-4A58-9E83-F8A7961514E6}" destId="{3FD5A76F-CCD5-4842-A27A-A212CE82ED56}" srcOrd="0" destOrd="0" presId="urn:microsoft.com/office/officeart/2005/8/layout/vList2"/>
    <dgm:cxn modelId="{3CFBC094-236E-4F0B-9016-BB098E949438}" type="presOf" srcId="{1C561D8E-E8E4-4147-A30C-73C8B7141A35}" destId="{FD300526-D2B0-4D20-8860-6B6D594146C7}" srcOrd="0" destOrd="0" presId="urn:microsoft.com/office/officeart/2005/8/layout/vList2"/>
    <dgm:cxn modelId="{63B6BFBD-3154-459F-B54E-A2DBA5C8242E}" srcId="{1C561D8E-E8E4-4147-A30C-73C8B7141A35}" destId="{A9040F9B-EF17-4A58-9E83-F8A7961514E6}" srcOrd="1" destOrd="0" parTransId="{5690E099-6614-4217-89E9-41357631D3CF}" sibTransId="{EBF9FC25-BB5A-4F2E-9C6F-35522C5D5343}"/>
    <dgm:cxn modelId="{4DC81550-D8B0-4638-B40D-346C49758BBB}" type="presParOf" srcId="{FD300526-D2B0-4D20-8860-6B6D594146C7}" destId="{BF089E0A-2D6F-46F3-9719-FDF1AA93B182}" srcOrd="0" destOrd="0" presId="urn:microsoft.com/office/officeart/2005/8/layout/vList2"/>
    <dgm:cxn modelId="{D0231BEA-4075-4C82-81FB-BB166F51995B}" type="presParOf" srcId="{FD300526-D2B0-4D20-8860-6B6D594146C7}" destId="{43D911A6-DF07-4B74-A345-A32A88A14C10}" srcOrd="1" destOrd="0" presId="urn:microsoft.com/office/officeart/2005/8/layout/vList2"/>
    <dgm:cxn modelId="{24BEF65A-A3F0-4962-A7FA-1FF152B213BD}" type="presParOf" srcId="{FD300526-D2B0-4D20-8860-6B6D594146C7}" destId="{3FD5A76F-CCD5-4842-A27A-A212CE82ED5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C176131-2A90-4D53-A0F5-6B3B21EEE4A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6E6003-C906-4735-874A-73CF55EDDC72}">
      <dgm:prSet/>
      <dgm:spPr/>
      <dgm:t>
        <a:bodyPr/>
        <a:lstStyle/>
        <a:p>
          <a:r>
            <a:rPr lang="zh-TW"/>
            <a:t>解決全球"技能差距"，通過培養一支擁有新領工作所需的學術、技術和專業技能的工作力來加強區域經濟。</a:t>
          </a:r>
          <a:endParaRPr lang="en-US"/>
        </a:p>
      </dgm:t>
    </dgm:pt>
    <dgm:pt modelId="{6099C523-005C-475E-9FA9-11914D14DF63}" type="parTrans" cxnId="{5B509E34-813D-46EF-84F0-94C7DE7B6421}">
      <dgm:prSet/>
      <dgm:spPr/>
      <dgm:t>
        <a:bodyPr/>
        <a:lstStyle/>
        <a:p>
          <a:endParaRPr lang="en-US"/>
        </a:p>
      </dgm:t>
    </dgm:pt>
    <dgm:pt modelId="{C121E33E-43A2-4243-ADF2-BF415AFEBC3D}" type="sibTrans" cxnId="{5B509E34-813D-46EF-84F0-94C7DE7B6421}">
      <dgm:prSet/>
      <dgm:spPr/>
      <dgm:t>
        <a:bodyPr/>
        <a:lstStyle/>
        <a:p>
          <a:endParaRPr lang="en-US"/>
        </a:p>
      </dgm:t>
    </dgm:pt>
    <dgm:pt modelId="{BC8DE88E-59DE-4560-A07E-5C185F682DCA}">
      <dgm:prSet/>
      <dgm:spPr/>
      <dgm:t>
        <a:bodyPr/>
        <a:lstStyle/>
        <a:p>
          <a:r>
            <a:rPr lang="zh-TW"/>
            <a:t>為服務不足的青年提供創新教育機會， 直接通往大學成就和職業準備的道路。</a:t>
          </a:r>
          <a:endParaRPr lang="en-US"/>
        </a:p>
      </dgm:t>
    </dgm:pt>
    <dgm:pt modelId="{BF8F1C5B-F8EE-4425-B2DE-00D9248984B8}" type="parTrans" cxnId="{ECB22BC3-7960-4AE7-B4CF-00B56207BF9F}">
      <dgm:prSet/>
      <dgm:spPr/>
      <dgm:t>
        <a:bodyPr/>
        <a:lstStyle/>
        <a:p>
          <a:endParaRPr lang="en-US"/>
        </a:p>
      </dgm:t>
    </dgm:pt>
    <dgm:pt modelId="{C82EA1EB-FA24-49A0-BD22-461539B3D9A5}" type="sibTrans" cxnId="{ECB22BC3-7960-4AE7-B4CF-00B56207BF9F}">
      <dgm:prSet/>
      <dgm:spPr/>
      <dgm:t>
        <a:bodyPr/>
        <a:lstStyle/>
        <a:p>
          <a:endParaRPr lang="en-US"/>
        </a:p>
      </dgm:t>
    </dgm:pt>
    <dgm:pt modelId="{82B1D60E-F92B-4A7E-9433-D57AA028E5CB}" type="pres">
      <dgm:prSet presAssocID="{4C176131-2A90-4D53-A0F5-6B3B21EEE4A3}" presName="diagram" presStyleCnt="0">
        <dgm:presLayoutVars>
          <dgm:dir/>
          <dgm:resizeHandles val="exact"/>
        </dgm:presLayoutVars>
      </dgm:prSet>
      <dgm:spPr/>
    </dgm:pt>
    <dgm:pt modelId="{CF02D8EE-B892-4ECF-975D-01D12087BDFF}" type="pres">
      <dgm:prSet presAssocID="{5E6E6003-C906-4735-874A-73CF55EDDC72}" presName="node" presStyleLbl="node1" presStyleIdx="0" presStyleCnt="2">
        <dgm:presLayoutVars>
          <dgm:bulletEnabled val="1"/>
        </dgm:presLayoutVars>
      </dgm:prSet>
      <dgm:spPr/>
    </dgm:pt>
    <dgm:pt modelId="{D7A785EA-9ECA-4C36-B33E-34D11845F4F5}" type="pres">
      <dgm:prSet presAssocID="{C121E33E-43A2-4243-ADF2-BF415AFEBC3D}" presName="sibTrans" presStyleCnt="0"/>
      <dgm:spPr/>
    </dgm:pt>
    <dgm:pt modelId="{30FEDF28-525A-48F3-8FC2-CBC3B63D7D48}" type="pres">
      <dgm:prSet presAssocID="{BC8DE88E-59DE-4560-A07E-5C185F682DCA}" presName="node" presStyleLbl="node1" presStyleIdx="1" presStyleCnt="2">
        <dgm:presLayoutVars>
          <dgm:bulletEnabled val="1"/>
        </dgm:presLayoutVars>
      </dgm:prSet>
      <dgm:spPr/>
    </dgm:pt>
  </dgm:ptLst>
  <dgm:cxnLst>
    <dgm:cxn modelId="{C826CA06-E4DC-4FDF-A1B1-66A613F8E008}" type="presOf" srcId="{5E6E6003-C906-4735-874A-73CF55EDDC72}" destId="{CF02D8EE-B892-4ECF-975D-01D12087BDFF}" srcOrd="0" destOrd="0" presId="urn:microsoft.com/office/officeart/2005/8/layout/default"/>
    <dgm:cxn modelId="{5B509E34-813D-46EF-84F0-94C7DE7B6421}" srcId="{4C176131-2A90-4D53-A0F5-6B3B21EEE4A3}" destId="{5E6E6003-C906-4735-874A-73CF55EDDC72}" srcOrd="0" destOrd="0" parTransId="{6099C523-005C-475E-9FA9-11914D14DF63}" sibTransId="{C121E33E-43A2-4243-ADF2-BF415AFEBC3D}"/>
    <dgm:cxn modelId="{A51DAC5F-68B4-40F6-A2EC-9612A0DAE482}" type="presOf" srcId="{BC8DE88E-59DE-4560-A07E-5C185F682DCA}" destId="{30FEDF28-525A-48F3-8FC2-CBC3B63D7D48}" srcOrd="0" destOrd="0" presId="urn:microsoft.com/office/officeart/2005/8/layout/default"/>
    <dgm:cxn modelId="{9CB48486-CE5C-45E4-BB00-0812DA3E964A}" type="presOf" srcId="{4C176131-2A90-4D53-A0F5-6B3B21EEE4A3}" destId="{82B1D60E-F92B-4A7E-9433-D57AA028E5CB}" srcOrd="0" destOrd="0" presId="urn:microsoft.com/office/officeart/2005/8/layout/default"/>
    <dgm:cxn modelId="{ECB22BC3-7960-4AE7-B4CF-00B56207BF9F}" srcId="{4C176131-2A90-4D53-A0F5-6B3B21EEE4A3}" destId="{BC8DE88E-59DE-4560-A07E-5C185F682DCA}" srcOrd="1" destOrd="0" parTransId="{BF8F1C5B-F8EE-4425-B2DE-00D9248984B8}" sibTransId="{C82EA1EB-FA24-49A0-BD22-461539B3D9A5}"/>
    <dgm:cxn modelId="{F0086C55-2F5D-4FEC-B0B2-2B9F37221E0E}" type="presParOf" srcId="{82B1D60E-F92B-4A7E-9433-D57AA028E5CB}" destId="{CF02D8EE-B892-4ECF-975D-01D12087BDFF}" srcOrd="0" destOrd="0" presId="urn:microsoft.com/office/officeart/2005/8/layout/default"/>
    <dgm:cxn modelId="{3DD27148-D9DA-4838-8909-6ACB3EED4F07}" type="presParOf" srcId="{82B1D60E-F92B-4A7E-9433-D57AA028E5CB}" destId="{D7A785EA-9ECA-4C36-B33E-34D11845F4F5}" srcOrd="1" destOrd="0" presId="urn:microsoft.com/office/officeart/2005/8/layout/default"/>
    <dgm:cxn modelId="{FE115018-4E2F-48AA-8176-50A8994EF054}" type="presParOf" srcId="{82B1D60E-F92B-4A7E-9433-D57AA028E5CB}" destId="{30FEDF28-525A-48F3-8FC2-CBC3B63D7D4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E73AFB-40C1-4F7D-9DAD-9B0331B8B9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AE2547-CCCE-475B-901C-F27D657FC5E3}">
      <dgm:prSet/>
      <dgm:spPr/>
      <dgm:t>
        <a:bodyPr/>
        <a:lstStyle/>
        <a:p>
          <a:r>
            <a:rPr lang="zh-TW"/>
            <a:t>一個系統化的開放式教育平台</a:t>
          </a:r>
          <a:endParaRPr lang="en-US"/>
        </a:p>
      </dgm:t>
    </dgm:pt>
    <dgm:pt modelId="{66FDBFF9-95B6-4330-8947-B7C642DBEC35}" type="parTrans" cxnId="{F5A1463C-DC2A-4AB1-B291-89FE3231CD83}">
      <dgm:prSet/>
      <dgm:spPr/>
      <dgm:t>
        <a:bodyPr/>
        <a:lstStyle/>
        <a:p>
          <a:endParaRPr lang="en-US"/>
        </a:p>
      </dgm:t>
    </dgm:pt>
    <dgm:pt modelId="{3419B2AB-3411-4239-869A-229371D8F6C1}" type="sibTrans" cxnId="{F5A1463C-DC2A-4AB1-B291-89FE3231CD83}">
      <dgm:prSet/>
      <dgm:spPr/>
      <dgm:t>
        <a:bodyPr/>
        <a:lstStyle/>
        <a:p>
          <a:endParaRPr lang="en-US"/>
        </a:p>
      </dgm:t>
    </dgm:pt>
    <dgm:pt modelId="{6A4F9DCB-D655-4E86-8C0C-D33D5E6A5A82}">
      <dgm:prSet/>
      <dgm:spPr/>
      <dgm:t>
        <a:bodyPr/>
        <a:lstStyle/>
        <a:p>
          <a:r>
            <a:rPr lang="zh-TW"/>
            <a:t>透過全英語的教學影片以及課後活動來踢聲學生的職場軟實力，這個平台不但可以提升學生的外語能力，也可以提升學生所想學得的技能。</a:t>
          </a:r>
          <a:endParaRPr lang="en-US"/>
        </a:p>
      </dgm:t>
    </dgm:pt>
    <dgm:pt modelId="{4DE6D927-CEF6-4803-B14B-7952FF8182F9}" type="parTrans" cxnId="{4F29BC53-4114-4C14-99B3-61A6CC66E956}">
      <dgm:prSet/>
      <dgm:spPr/>
      <dgm:t>
        <a:bodyPr/>
        <a:lstStyle/>
        <a:p>
          <a:endParaRPr lang="en-US"/>
        </a:p>
      </dgm:t>
    </dgm:pt>
    <dgm:pt modelId="{CE37F599-77A6-4380-A664-B4B1B7E38894}" type="sibTrans" cxnId="{4F29BC53-4114-4C14-99B3-61A6CC66E956}">
      <dgm:prSet/>
      <dgm:spPr/>
      <dgm:t>
        <a:bodyPr/>
        <a:lstStyle/>
        <a:p>
          <a:endParaRPr lang="en-US"/>
        </a:p>
      </dgm:t>
    </dgm:pt>
    <dgm:pt modelId="{B3875E60-AAFA-4433-92DA-F61443730C5F}" type="pres">
      <dgm:prSet presAssocID="{53E73AFB-40C1-4F7D-9DAD-9B0331B8B935}" presName="linear" presStyleCnt="0">
        <dgm:presLayoutVars>
          <dgm:animLvl val="lvl"/>
          <dgm:resizeHandles val="exact"/>
        </dgm:presLayoutVars>
      </dgm:prSet>
      <dgm:spPr/>
    </dgm:pt>
    <dgm:pt modelId="{EA27DF9D-652F-4BFA-B841-F91A6C51BB12}" type="pres">
      <dgm:prSet presAssocID="{08AE2547-CCCE-475B-901C-F27D657FC5E3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E773A65-C59D-467A-B975-1E6D21E6BE08}" type="pres">
      <dgm:prSet presAssocID="{3419B2AB-3411-4239-869A-229371D8F6C1}" presName="spacer" presStyleCnt="0"/>
      <dgm:spPr/>
    </dgm:pt>
    <dgm:pt modelId="{73FFD040-90CA-4ECD-BF55-0DFBEF5AD193}" type="pres">
      <dgm:prSet presAssocID="{6A4F9DCB-D655-4E86-8C0C-D33D5E6A5A8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5A1463C-DC2A-4AB1-B291-89FE3231CD83}" srcId="{53E73AFB-40C1-4F7D-9DAD-9B0331B8B935}" destId="{08AE2547-CCCE-475B-901C-F27D657FC5E3}" srcOrd="0" destOrd="0" parTransId="{66FDBFF9-95B6-4330-8947-B7C642DBEC35}" sibTransId="{3419B2AB-3411-4239-869A-229371D8F6C1}"/>
    <dgm:cxn modelId="{65100165-205A-42AE-A10E-75CD2BBC49C8}" type="presOf" srcId="{08AE2547-CCCE-475B-901C-F27D657FC5E3}" destId="{EA27DF9D-652F-4BFA-B841-F91A6C51BB12}" srcOrd="0" destOrd="0" presId="urn:microsoft.com/office/officeart/2005/8/layout/vList2"/>
    <dgm:cxn modelId="{4F29BC53-4114-4C14-99B3-61A6CC66E956}" srcId="{53E73AFB-40C1-4F7D-9DAD-9B0331B8B935}" destId="{6A4F9DCB-D655-4E86-8C0C-D33D5E6A5A82}" srcOrd="1" destOrd="0" parTransId="{4DE6D927-CEF6-4803-B14B-7952FF8182F9}" sibTransId="{CE37F599-77A6-4380-A664-B4B1B7E38894}"/>
    <dgm:cxn modelId="{7DE48D93-ED0A-4FB4-B4F2-3F3477B656AB}" type="presOf" srcId="{53E73AFB-40C1-4F7D-9DAD-9B0331B8B935}" destId="{B3875E60-AAFA-4433-92DA-F61443730C5F}" srcOrd="0" destOrd="0" presId="urn:microsoft.com/office/officeart/2005/8/layout/vList2"/>
    <dgm:cxn modelId="{26C53EAF-ABE3-430C-AA77-1E3DBCBD8218}" type="presOf" srcId="{6A4F9DCB-D655-4E86-8C0C-D33D5E6A5A82}" destId="{73FFD040-90CA-4ECD-BF55-0DFBEF5AD193}" srcOrd="0" destOrd="0" presId="urn:microsoft.com/office/officeart/2005/8/layout/vList2"/>
    <dgm:cxn modelId="{7E638CAD-8A6D-4808-91BF-A76B4FBF3019}" type="presParOf" srcId="{B3875E60-AAFA-4433-92DA-F61443730C5F}" destId="{EA27DF9D-652F-4BFA-B841-F91A6C51BB12}" srcOrd="0" destOrd="0" presId="urn:microsoft.com/office/officeart/2005/8/layout/vList2"/>
    <dgm:cxn modelId="{09805E7A-4590-4B99-A945-0B571A3C5398}" type="presParOf" srcId="{B3875E60-AAFA-4433-92DA-F61443730C5F}" destId="{0E773A65-C59D-467A-B975-1E6D21E6BE08}" srcOrd="1" destOrd="0" presId="urn:microsoft.com/office/officeart/2005/8/layout/vList2"/>
    <dgm:cxn modelId="{98DA6278-FE04-425A-B224-F11E1CC7C94E}" type="presParOf" srcId="{B3875E60-AAFA-4433-92DA-F61443730C5F}" destId="{73FFD040-90CA-4ECD-BF55-0DFBEF5AD19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089E0A-2D6F-46F3-9719-FDF1AA93B182}">
      <dsp:nvSpPr>
        <dsp:cNvPr id="0" name=""/>
        <dsp:cNvSpPr/>
      </dsp:nvSpPr>
      <dsp:spPr>
        <a:xfrm>
          <a:off x="0" y="503476"/>
          <a:ext cx="5944427" cy="2260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300" kern="1200"/>
            <a:t>•年輕人明白需要通過獲得技能和教育來為職場做準備,但很大比例的人沒有獲得大學學位。按時、全國社區高校畢業率為13%。低收入學生的畢業率明顯較低。</a:t>
          </a:r>
          <a:endParaRPr lang="en-US" sz="2300" kern="1200"/>
        </a:p>
      </dsp:txBody>
      <dsp:txXfrm>
        <a:off x="110346" y="613822"/>
        <a:ext cx="5723735" cy="2039748"/>
      </dsp:txXfrm>
    </dsp:sp>
    <dsp:sp modelId="{3FD5A76F-CCD5-4842-A27A-A212CE82ED56}">
      <dsp:nvSpPr>
        <dsp:cNvPr id="0" name=""/>
        <dsp:cNvSpPr/>
      </dsp:nvSpPr>
      <dsp:spPr>
        <a:xfrm>
          <a:off x="0" y="2830156"/>
          <a:ext cx="5944427" cy="22604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300" kern="1200"/>
            <a:t>•為了提供教育和勞動力發展的整體方法,IBM、紐約市教育部和紐約市立大學於2011年9月在紐約布魯克林設計並創辦了第一所P-TECH學校,第一班於2017年6月畢業。</a:t>
          </a:r>
          <a:endParaRPr lang="en-US" sz="2300" kern="1200"/>
        </a:p>
      </dsp:txBody>
      <dsp:txXfrm>
        <a:off x="110346" y="2940502"/>
        <a:ext cx="5723735" cy="20397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2D8EE-B892-4ECF-975D-01D12087BDFF}">
      <dsp:nvSpPr>
        <dsp:cNvPr id="0" name=""/>
        <dsp:cNvSpPr/>
      </dsp:nvSpPr>
      <dsp:spPr>
        <a:xfrm>
          <a:off x="713272" y="2812"/>
          <a:ext cx="3963792" cy="23782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解決全球"技能差距"，通過培養一支擁有新領工作所需的學術、技術和專業技能的工作力來加強區域經濟。</a:t>
          </a:r>
          <a:endParaRPr lang="en-US" sz="2400" kern="1200"/>
        </a:p>
      </dsp:txBody>
      <dsp:txXfrm>
        <a:off x="713272" y="2812"/>
        <a:ext cx="3963792" cy="2378275"/>
      </dsp:txXfrm>
    </dsp:sp>
    <dsp:sp modelId="{30FEDF28-525A-48F3-8FC2-CBC3B63D7D48}">
      <dsp:nvSpPr>
        <dsp:cNvPr id="0" name=""/>
        <dsp:cNvSpPr/>
      </dsp:nvSpPr>
      <dsp:spPr>
        <a:xfrm>
          <a:off x="713272" y="2777467"/>
          <a:ext cx="3963792" cy="2378275"/>
        </a:xfrm>
        <a:prstGeom prst="rect">
          <a:avLst/>
        </a:prstGeom>
        <a:solidFill>
          <a:schemeClr val="accent5">
            <a:hueOff val="2191678"/>
            <a:satOff val="-14598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400" kern="1200"/>
            <a:t>為服務不足的青年提供創新教育機會， 直接通往大學成就和職業準備的道路。</a:t>
          </a:r>
          <a:endParaRPr lang="en-US" sz="2400" kern="1200"/>
        </a:p>
      </dsp:txBody>
      <dsp:txXfrm>
        <a:off x="713272" y="2777467"/>
        <a:ext cx="3963792" cy="237827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7DF9D-652F-4BFA-B841-F91A6C51BB12}">
      <dsp:nvSpPr>
        <dsp:cNvPr id="0" name=""/>
        <dsp:cNvSpPr/>
      </dsp:nvSpPr>
      <dsp:spPr>
        <a:xfrm>
          <a:off x="0" y="43778"/>
          <a:ext cx="5944427" cy="271293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一個系統化的開放式教育平台</a:t>
          </a:r>
          <a:endParaRPr lang="en-US" sz="2800" kern="1200"/>
        </a:p>
      </dsp:txBody>
      <dsp:txXfrm>
        <a:off x="132435" y="176213"/>
        <a:ext cx="5679557" cy="2448067"/>
      </dsp:txXfrm>
    </dsp:sp>
    <dsp:sp modelId="{73FFD040-90CA-4ECD-BF55-0DFBEF5AD193}">
      <dsp:nvSpPr>
        <dsp:cNvPr id="0" name=""/>
        <dsp:cNvSpPr/>
      </dsp:nvSpPr>
      <dsp:spPr>
        <a:xfrm>
          <a:off x="0" y="2837356"/>
          <a:ext cx="5944427" cy="2712937"/>
        </a:xfrm>
        <a:prstGeom prst="roundRect">
          <a:avLst/>
        </a:prstGeom>
        <a:solidFill>
          <a:schemeClr val="accent2">
            <a:hueOff val="11635776"/>
            <a:satOff val="-69541"/>
            <a:lumOff val="-1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sz="2800" kern="1200"/>
            <a:t>透過全英語的教學影片以及課後活動來踢聲學生的職場軟實力，這個平台不但可以提升學生的外語能力，也可以提升學生所想學得的技能。</a:t>
          </a:r>
          <a:endParaRPr lang="en-US" sz="2800" kern="1200"/>
        </a:p>
      </dsp:txBody>
      <dsp:txXfrm>
        <a:off x="132435" y="2969791"/>
        <a:ext cx="5679557" cy="24480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9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71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59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50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2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68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3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786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1/10/2022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70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1/10/2022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97627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66" r:id="rId6"/>
    <p:sldLayoutId id="2147483871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3" descr="液體中的藍色和黃色染料">
            <a:extLst>
              <a:ext uri="{FF2B5EF4-FFF2-40B4-BE49-F238E27FC236}">
                <a16:creationId xmlns:a16="http://schemas.microsoft.com/office/drawing/2014/main" id="{CC2B810E-5AB9-47BF-9256-52646EC2C01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3398" r="-1" b="12310"/>
          <a:stretch/>
        </p:blipFill>
        <p:spPr>
          <a:xfrm>
            <a:off x="20" y="10"/>
            <a:ext cx="12188921" cy="685799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164583" y="686020"/>
            <a:ext cx="5859787" cy="2742980"/>
          </a:xfrm>
        </p:spPr>
        <p:txBody>
          <a:bodyPr>
            <a:normAutofit/>
          </a:bodyPr>
          <a:lstStyle/>
          <a:p>
            <a:pPr algn="ctr"/>
            <a:r>
              <a:rPr lang="zh-TW" sz="6000" b="0">
                <a:solidFill>
                  <a:srgbClr val="FFFFFF"/>
                </a:solidFill>
                <a:ea typeface="+mj-lt"/>
                <a:cs typeface="+mj-lt"/>
              </a:rPr>
              <a:t>P-TECH </a:t>
            </a:r>
            <a:r>
              <a:rPr lang="zh-TW" altLang="en-US" sz="6000">
                <a:solidFill>
                  <a:srgbClr val="FFFFFF"/>
                </a:solidFill>
                <a:ea typeface="+mj-lt"/>
                <a:cs typeface="+mj-lt"/>
              </a:rPr>
              <a:t>簡介</a:t>
            </a:r>
            <a:endParaRPr lang="zh-TW" altLang="en-US" sz="6000">
              <a:solidFill>
                <a:srgbClr val="FFFFFF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164583" y="3602038"/>
            <a:ext cx="5859787" cy="2569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zh-TW" altLang="en-US" sz="3600">
                <a:solidFill>
                  <a:srgbClr val="FFFFFF"/>
                </a:solidFill>
              </a:rPr>
              <a:t>簡報出版團隊:NUTC-TECH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A87D413-7BAA-462C-B2E4-D3E7F1B84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C2E2750-B9DE-455A-B750-2FAFF87D80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Graphic 9">
              <a:extLst>
                <a:ext uri="{FF2B5EF4-FFF2-40B4-BE49-F238E27FC236}">
                  <a16:creationId xmlns:a16="http://schemas.microsoft.com/office/drawing/2014/main" id="{A77A1618-AFD3-49E5-A4AC-89FA51FA99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76DC57-ED9C-40FB-A897-CDD7D62229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BB714E6-B071-4696-ACD5-A9A96F929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31" name="Graphic 9">
              <a:extLst>
                <a:ext uri="{FF2B5EF4-FFF2-40B4-BE49-F238E27FC236}">
                  <a16:creationId xmlns:a16="http://schemas.microsoft.com/office/drawing/2014/main" id="{A303CB3D-0086-4A58-BDAE-F18B143EE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2" name="Graphic 9">
              <a:extLst>
                <a:ext uri="{FF2B5EF4-FFF2-40B4-BE49-F238E27FC236}">
                  <a16:creationId xmlns:a16="http://schemas.microsoft.com/office/drawing/2014/main" id="{8AB02D57-74BD-4B38-94E0-EF2F291E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9212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" name="Group 11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9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 useBgFill="1">
        <p:nvSpPr>
          <p:cNvPr id="11" name="Background Fill">
            <a:extLst>
              <a:ext uri="{FF2B5EF4-FFF2-40B4-BE49-F238E27FC236}">
                <a16:creationId xmlns:a16="http://schemas.microsoft.com/office/drawing/2014/main" id="{BE131372-D9E8-4ABB-91DE-7E21E3FFB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C80246C7-15B2-4B1C-A50F-8CA5FFB64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0" name="Group 24">
            <a:extLst>
              <a:ext uri="{FF2B5EF4-FFF2-40B4-BE49-F238E27FC236}">
                <a16:creationId xmlns:a16="http://schemas.microsoft.com/office/drawing/2014/main" id="{FCC9ACE2-9E30-4252-B1E6-43035ABB5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977333" y="0"/>
            <a:ext cx="2214668" cy="6192747"/>
            <a:chOff x="9977333" y="0"/>
            <a:chExt cx="2214668" cy="6192747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9A30DE4-D169-4137-B79D-72D226BE3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21818" y="3254126"/>
              <a:ext cx="272587" cy="2725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Graphic 9">
              <a:extLst>
                <a:ext uri="{FF2B5EF4-FFF2-40B4-BE49-F238E27FC236}">
                  <a16:creationId xmlns:a16="http://schemas.microsoft.com/office/drawing/2014/main" id="{A83B3C91-59FD-4841-A3B6-0AEC6FF7C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15635" y="2431541"/>
              <a:ext cx="1321642" cy="132164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4B24A1-6323-41C4-ABCB-71DD71A3D6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V="1">
              <a:off x="11041380" y="4795265"/>
              <a:ext cx="1150620" cy="1397482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29" name="Graphic 9">
              <a:extLst>
                <a:ext uri="{FF2B5EF4-FFF2-40B4-BE49-F238E27FC236}">
                  <a16:creationId xmlns:a16="http://schemas.microsoft.com/office/drawing/2014/main" id="{2358C2FC-3C49-4AE7-BF1E-3A34A9F9A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9977333" y="0"/>
              <a:ext cx="2214667" cy="221466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Graphic 9">
              <a:extLst>
                <a:ext uri="{FF2B5EF4-FFF2-40B4-BE49-F238E27FC236}">
                  <a16:creationId xmlns:a16="http://schemas.microsoft.com/office/drawing/2014/main" id="{A378C347-A7A9-4827-A4EC-EFAD14266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093324" y="167079"/>
              <a:ext cx="1945697" cy="1945697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EDF4B39-3457-4E9E-85D3-5041F4131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79982" y="3060222"/>
              <a:ext cx="612019" cy="1733435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sp>
        <p:nvSpPr>
          <p:cNvPr id="33" name="Texture">
            <a:extLst>
              <a:ext uri="{FF2B5EF4-FFF2-40B4-BE49-F238E27FC236}">
                <a16:creationId xmlns:a16="http://schemas.microsoft.com/office/drawing/2014/main" id="{05FCB4FA-A461-4C52-802B-EBF497907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150EDCA-F843-4867-9C37-C955EACB5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671824"/>
            <a:ext cx="9002949" cy="27571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5400"/>
              <a:t>概念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62BFC0-77CC-41D0-BD8F-996F5C94B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602038"/>
            <a:ext cx="9002949" cy="256994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zh-TW" altLang="en-US" sz="2400"/>
              <a:t>在 </a:t>
            </a:r>
            <a:r>
              <a:rPr lang="en-US" altLang="zh-TW" sz="2400"/>
              <a:t>P-TECH </a:t>
            </a:r>
            <a:r>
              <a:rPr lang="zh-TW" altLang="en-US" sz="2400"/>
              <a:t>學校，學生獲得高中文憑、行業認可的副學士學位，並在不斷增長的領域獲得相關工作經驗。</a:t>
            </a:r>
            <a:endParaRPr lang="en-US" altLang="zh-TW" sz="2400"/>
          </a:p>
        </p:txBody>
      </p:sp>
    </p:spTree>
    <p:extLst>
      <p:ext uri="{BB962C8B-B14F-4D97-AF65-F5344CB8AC3E}">
        <p14:creationId xmlns:p14="http://schemas.microsoft.com/office/powerpoint/2010/main" val="775320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7E063A-C826-49FA-B85F-60E405EB81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/>
              <a:t>台灣VS 美國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AEF3A9-A13E-4FF7-AF77-E91E7B9EC2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z="3600"/>
              <a:t>台灣:五年制專科學校</a:t>
            </a:r>
            <a:endParaRPr lang="zh-TW" sz="3600"/>
          </a:p>
          <a:p>
            <a:r>
              <a:rPr lang="zh-TW" altLang="en-US" sz="3600"/>
              <a:t>美國:四年高中教育+兩年副學士教育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84178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4E9A88-133D-4AA3-B1E5-17739AA5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P-TECH規模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B74837D-4DE6-46A1-8B7A-4C7DCC364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sz="3600">
                <a:ea typeface="+mn-lt"/>
                <a:cs typeface="+mn-lt"/>
              </a:rPr>
              <a:t>•P-TECH 網路包括超過 150，000 名學生、教師、家長、導師和宣導者，在 28 世界各國。</a:t>
            </a:r>
            <a:endParaRPr lang="zh-TW" altLang="en-US" sz="360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60260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716B1E-463F-444D-AF3B-36E3ED29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>
                <a:ea typeface="+mj-lt"/>
                <a:cs typeface="+mj-lt"/>
              </a:rPr>
              <a:t>P-TECH 模式</a:t>
            </a:r>
            <a:endParaRPr lang="zh-TW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6699A5-4E08-410C-94C3-6460F2A5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TW" sz="3600">
                <a:ea typeface="+mn-lt"/>
                <a:cs typeface="+mn-lt"/>
              </a:rPr>
              <a:t>P-TECH 是一種全球教育模式,為世界各地的學生提供發展技能和能力的機會,這些技能和能力將直接轉化為競爭職業。</a:t>
            </a:r>
            <a:endParaRPr lang="zh-TW" altLang="en-US" sz="3600"/>
          </a:p>
        </p:txBody>
      </p:sp>
    </p:spTree>
    <p:extLst>
      <p:ext uri="{BB962C8B-B14F-4D97-AF65-F5344CB8AC3E}">
        <p14:creationId xmlns:p14="http://schemas.microsoft.com/office/powerpoint/2010/main" val="2855114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A533261-94EC-4494-86AB-1382C733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B06ABDF2-57ED-4DC5-BB96-62CEE5DBD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06D5EDC2-3737-4DED-AB3C-B42358F81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 useBgFill="1">
        <p:nvSpPr>
          <p:cNvPr id="15" name="Graphic 9">
            <a:extLst>
              <a:ext uri="{FF2B5EF4-FFF2-40B4-BE49-F238E27FC236}">
                <a16:creationId xmlns:a16="http://schemas.microsoft.com/office/drawing/2014/main" id="{089C1A08-A75B-45D5-8A9D-680682C13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410" y="0"/>
            <a:ext cx="6858000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ln w="93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ure">
            <a:extLst>
              <a:ext uri="{FF2B5EF4-FFF2-40B4-BE49-F238E27FC236}">
                <a16:creationId xmlns:a16="http://schemas.microsoft.com/office/drawing/2014/main" id="{51B4E1F8-DA38-44DA-8B73-7EC281F24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15F3227D-9D9D-4A9B-AF9C-983A5EE49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8049"/>
            <a:ext cx="4595834" cy="5594074"/>
          </a:xfrm>
        </p:spPr>
        <p:txBody>
          <a:bodyPr anchor="ctr">
            <a:normAutofit/>
          </a:bodyPr>
          <a:lstStyle/>
          <a:p>
            <a:r>
              <a:rPr lang="zh-TW">
                <a:solidFill>
                  <a:schemeClr val="bg1"/>
                </a:solidFill>
                <a:ea typeface="+mj-lt"/>
                <a:cs typeface="+mj-lt"/>
              </a:rPr>
              <a:t>P-TECH 的歷史</a:t>
            </a:r>
            <a:endParaRPr lang="zh-TW">
              <a:solidFill>
                <a:schemeClr val="bg1"/>
              </a:solidFill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EF73AFD2-5099-4463-AEB4-628516DB06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5395251"/>
              </p:ext>
            </p:extLst>
          </p:nvPr>
        </p:nvGraphicFramePr>
        <p:xfrm>
          <a:off x="5805612" y="668049"/>
          <a:ext cx="5944427" cy="559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37552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A533261-94EC-4494-86AB-1382C733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B06ABDF2-57ED-4DC5-BB96-62CEE5DBD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398637EB-325F-4E51-9E3F-4CD9BCD1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 useBgFill="1">
        <p:nvSpPr>
          <p:cNvPr id="15" name="Graphic 9">
            <a:extLst>
              <a:ext uri="{FF2B5EF4-FFF2-40B4-BE49-F238E27FC236}">
                <a16:creationId xmlns:a16="http://schemas.microsoft.com/office/drawing/2014/main" id="{089C1A08-A75B-45D5-8A9D-680682C13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07362" y="758952"/>
            <a:ext cx="6099048" cy="6099048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ln w="93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ure">
            <a:extLst>
              <a:ext uri="{FF2B5EF4-FFF2-40B4-BE49-F238E27FC236}">
                <a16:creationId xmlns:a16="http://schemas.microsoft.com/office/drawing/2014/main" id="{E2D3C5A4-DF1D-4E4B-9BE0-4EAA2FBF4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B5DC447-E7F2-46AD-A583-67C01262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5393227" cy="5429396"/>
          </a:xfrm>
        </p:spPr>
        <p:txBody>
          <a:bodyPr anchor="ctr">
            <a:normAutofit/>
          </a:bodyPr>
          <a:lstStyle/>
          <a:p>
            <a:r>
              <a:rPr lang="zh-TW">
                <a:solidFill>
                  <a:schemeClr val="bg1"/>
                </a:solidFill>
                <a:ea typeface="+mj-lt"/>
                <a:cs typeface="+mj-lt"/>
              </a:rPr>
              <a:t>P-TECH 的設計有兩個目標</a:t>
            </a:r>
            <a:endParaRPr lang="zh-TW">
              <a:solidFill>
                <a:schemeClr val="bg1"/>
              </a:solidFill>
            </a:endParaRP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821DE3C3-7EC7-4F9D-B931-3E26ECBF0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893130"/>
              </p:ext>
            </p:extLst>
          </p:nvPr>
        </p:nvGraphicFramePr>
        <p:xfrm>
          <a:off x="6344462" y="1018408"/>
          <a:ext cx="5390337" cy="51585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605144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Background Fill">
            <a:extLst>
              <a:ext uri="{FF2B5EF4-FFF2-40B4-BE49-F238E27FC236}">
                <a16:creationId xmlns:a16="http://schemas.microsoft.com/office/drawing/2014/main" id="{BA533261-94EC-4494-86AB-1382C7333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B06ABDF2-57ED-4DC5-BB96-62CEE5DBD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06D5EDC2-3737-4DED-AB3C-B42358F81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sp useBgFill="1">
        <p:nvSpPr>
          <p:cNvPr id="15" name="Graphic 9">
            <a:extLst>
              <a:ext uri="{FF2B5EF4-FFF2-40B4-BE49-F238E27FC236}">
                <a16:creationId xmlns:a16="http://schemas.microsoft.com/office/drawing/2014/main" id="{089C1A08-A75B-45D5-8A9D-680682C13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410" y="0"/>
            <a:ext cx="6858000" cy="6858000"/>
          </a:xfrm>
          <a:custGeom>
            <a:avLst/>
            <a:gdLst>
              <a:gd name="connsiteX0" fmla="*/ 6861546 w 6861545"/>
              <a:gd name="connsiteY0" fmla="*/ 6861546 h 6861545"/>
              <a:gd name="connsiteX1" fmla="*/ 3435812 w 6861545"/>
              <a:gd name="connsiteY1" fmla="*/ 6861546 h 6861545"/>
              <a:gd name="connsiteX2" fmla="*/ 0 w 6861545"/>
              <a:gd name="connsiteY2" fmla="*/ 3425734 h 6861545"/>
              <a:gd name="connsiteX3" fmla="*/ 0 w 6861545"/>
              <a:gd name="connsiteY3" fmla="*/ 0 h 6861545"/>
              <a:gd name="connsiteX4" fmla="*/ 3425734 w 6861545"/>
              <a:gd name="connsiteY4" fmla="*/ 0 h 6861545"/>
              <a:gd name="connsiteX5" fmla="*/ 6861546 w 6861545"/>
              <a:gd name="connsiteY5" fmla="*/ 3435812 h 6861545"/>
              <a:gd name="connsiteX6" fmla="*/ 6861546 w 6861545"/>
              <a:gd name="connsiteY6" fmla="*/ 6861546 h 6861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61545" h="6861545">
                <a:moveTo>
                  <a:pt x="6861546" y="6861546"/>
                </a:moveTo>
                <a:lnTo>
                  <a:pt x="3435812" y="6861546"/>
                </a:lnTo>
                <a:cubicBezTo>
                  <a:pt x="1538245" y="6861546"/>
                  <a:pt x="0" y="5323301"/>
                  <a:pt x="0" y="3425734"/>
                </a:cubicBezTo>
                <a:lnTo>
                  <a:pt x="0" y="0"/>
                </a:lnTo>
                <a:lnTo>
                  <a:pt x="3425734" y="0"/>
                </a:lnTo>
                <a:cubicBezTo>
                  <a:pt x="5323301" y="0"/>
                  <a:pt x="6861546" y="1538245"/>
                  <a:pt x="6861546" y="3435812"/>
                </a:cubicBezTo>
                <a:lnTo>
                  <a:pt x="6861546" y="6861546"/>
                </a:lnTo>
                <a:close/>
              </a:path>
            </a:pathLst>
          </a:custGeom>
          <a:ln w="933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exture">
            <a:extLst>
              <a:ext uri="{FF2B5EF4-FFF2-40B4-BE49-F238E27FC236}">
                <a16:creationId xmlns:a16="http://schemas.microsoft.com/office/drawing/2014/main" id="{51B4E1F8-DA38-44DA-8B73-7EC281F24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63CA0193-F65B-4E50-9224-BE6AC7FAC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668049"/>
            <a:ext cx="4595834" cy="5594074"/>
          </a:xfrm>
        </p:spPr>
        <p:txBody>
          <a:bodyPr anchor="ctr">
            <a:normAutofit/>
          </a:bodyPr>
          <a:lstStyle/>
          <a:p>
            <a:r>
              <a:rPr lang="zh-TW" altLang="en-US">
                <a:solidFill>
                  <a:schemeClr val="bg1"/>
                </a:solidFill>
              </a:rPr>
              <a:t>OPEN-PTECH</a:t>
            </a:r>
          </a:p>
        </p:txBody>
      </p:sp>
      <p:graphicFrame>
        <p:nvGraphicFramePr>
          <p:cNvPr id="5" name="內容版面配置區 2">
            <a:extLst>
              <a:ext uri="{FF2B5EF4-FFF2-40B4-BE49-F238E27FC236}">
                <a16:creationId xmlns:a16="http://schemas.microsoft.com/office/drawing/2014/main" id="{840AC604-6565-4A2F-8E73-B3180CD952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961155"/>
              </p:ext>
            </p:extLst>
          </p:nvPr>
        </p:nvGraphicFramePr>
        <p:xfrm>
          <a:off x="5805612" y="668049"/>
          <a:ext cx="5944427" cy="5594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6433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ropicVTI">
  <a:themeElements>
    <a:clrScheme name="Tropic">
      <a:dk1>
        <a:srgbClr val="000000"/>
      </a:dk1>
      <a:lt1>
        <a:sysClr val="window" lastClr="FFFFFF"/>
      </a:lt1>
      <a:dk2>
        <a:srgbClr val="09392F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68E74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9" baseType="lpstr">
      <vt:lpstr>TropicVTI</vt:lpstr>
      <vt:lpstr>P-TECH 簡介</vt:lpstr>
      <vt:lpstr>概念</vt:lpstr>
      <vt:lpstr>台灣VS 美國</vt:lpstr>
      <vt:lpstr>P-TECH規模</vt:lpstr>
      <vt:lpstr>P-TECH 模式</vt:lpstr>
      <vt:lpstr>P-TECH 的歷史</vt:lpstr>
      <vt:lpstr>P-TECH 的設計有兩個目標</vt:lpstr>
      <vt:lpstr>OPEN-PTECH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/>
  <cp:lastModifiedBy/>
  <cp:revision>65</cp:revision>
  <dcterms:created xsi:type="dcterms:W3CDTF">2022-01-11T00:52:38Z</dcterms:created>
  <dcterms:modified xsi:type="dcterms:W3CDTF">2022-01-11T01:17:35Z</dcterms:modified>
</cp:coreProperties>
</file>