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0"/>
  </p:notesMasterIdLst>
  <p:handoutMasterIdLst>
    <p:handoutMasterId r:id="rId11"/>
  </p:handoutMasterIdLst>
  <p:sldIdLst>
    <p:sldId id="257" r:id="rId2"/>
    <p:sldId id="259" r:id="rId3"/>
    <p:sldId id="261" r:id="rId4"/>
    <p:sldId id="262" r:id="rId5"/>
    <p:sldId id="264" r:id="rId6"/>
    <p:sldId id="265" r:id="rId7"/>
    <p:sldId id="266" r:id="rId8"/>
    <p:sldId id="260" r:id="rId9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7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50261E5-B7A8-407C-8EC1-76B17CEB3BFC}" type="datetime1">
              <a:rPr lang="zh-TW" altLang="en-US" smtClean="0"/>
              <a:t>2022/3/1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50AEE62-6B03-446E-B028-1F2C67AA2CBE}" type="datetime1">
              <a:rPr lang="zh-TW" altLang="en-US" smtClean="0"/>
              <a:t>2022/3/1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E8D126-38DE-467F-A065-2775F6C58740}" type="datetime1">
              <a:rPr lang="zh-TW" altLang="en-US" smtClean="0"/>
              <a:t>2022/3/1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5B7815-05FA-48A0-B9F7-1E04C4F2927A}" type="datetime1">
              <a:rPr lang="zh-TW" altLang="en-US" smtClean="0"/>
              <a:t>2022/3/1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BF2AB9-D521-429F-BA9E-A2DD356AF2DF}" type="datetime1">
              <a:rPr lang="zh-TW" altLang="en-US" smtClean="0"/>
              <a:t>2022/3/1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48A74C-3BFC-4F64-9D88-E80E3E32994C}" type="datetime1">
              <a:rPr lang="zh-TW" altLang="en-US" smtClean="0"/>
              <a:t>2022/3/1</a:t>
            </a:fld>
            <a:endParaRPr lang="en-US" dirty="0"/>
          </a:p>
        </p:txBody>
      </p:sp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預留位置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166BAE-2749-48CF-A2DD-C010F9F8CC67}" type="datetime1">
              <a:rPr lang="zh-TW" altLang="en-US" smtClean="0"/>
              <a:t>2022/3/1</a:t>
            </a:fld>
            <a:endParaRPr lang="en-US" dirty="0"/>
          </a:p>
        </p:txBody>
      </p:sp>
      <p:sp>
        <p:nvSpPr>
          <p:cNvPr id="11" name="頁尾版面配置區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投影片編號預留位置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EB3E87-0960-43A6-B33B-AB6B15A82628}" type="datetime1">
              <a:rPr lang="zh-TW" altLang="en-US" smtClean="0"/>
              <a:t>2022/3/1</a:t>
            </a:fld>
            <a:endParaRPr 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92F8F0-693D-4EF4-BEF5-7FD95F4C1D80}" type="datetime1">
              <a:rPr lang="zh-TW" altLang="en-US" smtClean="0"/>
              <a:t>2022/3/1</a:t>
            </a:fld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E96419C-65CA-4A96-8C8D-1B83D1EEA06C}" type="datetime1">
              <a:rPr lang="zh-TW" altLang="en-US" smtClean="0"/>
              <a:t>2022/3/1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55B0D56E-A8D9-4835-9121-D0F2B7B922B1}" type="datetime1">
              <a:rPr lang="zh-TW" altLang="en-US" smtClean="0"/>
              <a:t>2022/3/1</a:t>
            </a:fld>
            <a:endParaRPr 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90E0D-C35F-4A14-A7E8-7670CE6639F2}" type="datetime1">
              <a:rPr lang="zh-TW" altLang="en-US" smtClean="0"/>
              <a:t>2022/3/1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E02858-A2D1-43A3-9BDC-80D1F48AA51B}" type="datetime1">
              <a:rPr lang="zh-TW" altLang="en-US" smtClean="0"/>
              <a:t>2022/3/1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tw" dirty="0"/>
              <a:t>按一下以編輯母片文字樣式</a:t>
            </a:r>
          </a:p>
          <a:p>
            <a:pPr lvl="1" rtl="0"/>
            <a:r>
              <a:rPr lang="zh-tw" dirty="0"/>
              <a:t>第二層</a:t>
            </a:r>
          </a:p>
          <a:p>
            <a:pPr lvl="2" rtl="0"/>
            <a:r>
              <a:rPr lang="zh-tw" dirty="0"/>
              <a:t>第三層</a:t>
            </a:r>
          </a:p>
          <a:p>
            <a:pPr lvl="3" rtl="0"/>
            <a:r>
              <a:rPr lang="zh-tw" dirty="0"/>
              <a:t>第四層</a:t>
            </a:r>
          </a:p>
          <a:p>
            <a:pPr lvl="4" rtl="0"/>
            <a:r>
              <a:rPr lang="zh-tw" dirty="0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86D72111-2BF8-49E3-AA06-55BC47AB46EA}" type="datetime1">
              <a:rPr lang="zh-TW" altLang="en-US" smtClean="0"/>
              <a:t>2022/3/1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MingLiu" panose="02020509000000000000" pitchFamily="49" charset="-120"/>
          <a:ea typeface="MingLiu" panose="02020509000000000000" pitchFamily="49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矩形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8148" y="2919966"/>
            <a:ext cx="6115317" cy="2229609"/>
          </a:xfrm>
        </p:spPr>
        <p:txBody>
          <a:bodyPr rtlCol="0">
            <a:norm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lang="zh-TW" altLang="zh-TW" sz="2400" dirty="0">
                <a:solidFill>
                  <a:srgbClr val="2A2A2A"/>
                </a:solidFill>
                <a:latin typeface="Verdana" panose="020B0604030504040204" pitchFamily="34" charset="0"/>
                <a:ea typeface="微軟正黑體" panose="020B0604030504040204" pitchFamily="34" charset="-120"/>
                <a:cs typeface="FreesiaUPC" panose="020B0604020202020204" pitchFamily="34" charset="-34"/>
              </a:rPr>
              <a:t>受訪者</a:t>
            </a:r>
            <a:r>
              <a:rPr lang="en-GB" altLang="zh-TW" sz="2400" dirty="0">
                <a:solidFill>
                  <a:srgbClr val="2A2A2A"/>
                </a:solidFill>
                <a:latin typeface="Verdana" panose="020B0604030504040204" pitchFamily="34" charset="0"/>
                <a:ea typeface="微軟正黑體" panose="020B0604030504040204" pitchFamily="34" charset="-120"/>
                <a:cs typeface="FreesiaUPC" panose="020B0604020202020204" pitchFamily="34" charset="-34"/>
              </a:rPr>
              <a:t>:</a:t>
            </a:r>
            <a:r>
              <a:rPr lang="en-GB" altLang="zh-TW" sz="2400" kern="50" spc="-60" dirty="0">
                <a:solidFill>
                  <a:srgbClr val="2A2A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ingFang SC"/>
              </a:rPr>
              <a:t> </a:t>
            </a:r>
            <a:r>
              <a:rPr lang="ja-JP" altLang="zh-TW" sz="2400" kern="50" spc="-60" dirty="0">
                <a:solidFill>
                  <a:srgbClr val="2A2A2A"/>
                </a:solidFill>
                <a:latin typeface="Verdana" panose="020B0604030504040204" pitchFamily="34" charset="0"/>
                <a:ea typeface="微軟正黑體" panose="020B0604030504040204" pitchFamily="34" charset="-120"/>
                <a:cs typeface="PingFang SC"/>
              </a:rPr>
              <a:t>台北科大五專部</a:t>
            </a:r>
            <a:r>
              <a:rPr lang="ja-JP" altLang="zh-TW" sz="2400" kern="50" spc="-60" dirty="0">
                <a:solidFill>
                  <a:srgbClr val="2A2A2A"/>
                </a:solidFill>
                <a:latin typeface="Verdana" panose="020B0604030504040204" pitchFamily="34" charset="0"/>
                <a:ea typeface="微軟正黑體" panose="020B0604030504040204" pitchFamily="34" charset="-120"/>
                <a:cs typeface="Avenir Next"/>
              </a:rPr>
              <a:t> </a:t>
            </a:r>
            <a:r>
              <a:rPr lang="ja-JP" altLang="zh-TW" sz="2400" kern="50" spc="-60" dirty="0">
                <a:solidFill>
                  <a:srgbClr val="2A2A2A"/>
                </a:solidFill>
                <a:latin typeface="Verdana" panose="020B0604030504040204" pitchFamily="34" charset="0"/>
                <a:ea typeface="微軟正黑體" panose="020B0604030504040204" pitchFamily="34" charset="-120"/>
                <a:cs typeface="PingFang SC"/>
              </a:rPr>
              <a:t>智慧自動化工程</a:t>
            </a:r>
            <a:r>
              <a:rPr lang="ja-JP" altLang="zh-TW" sz="2400" b="0" kern="50" spc="-60" dirty="0">
                <a:solidFill>
                  <a:srgbClr val="2A2A2A"/>
                </a:solidFill>
                <a:effectLst/>
                <a:latin typeface="Verdana" panose="020B0604030504040204" pitchFamily="34" charset="0"/>
                <a:ea typeface="微軟正黑體" panose="020B0604030504040204" pitchFamily="34" charset="-120"/>
                <a:cs typeface="PingFang SC"/>
              </a:rPr>
              <a:t>科</a:t>
            </a:r>
            <a:br>
              <a:rPr lang="en-US" altLang="ja-JP" sz="2000" kern="50" spc="-60" dirty="0">
                <a:solidFill>
                  <a:srgbClr val="2A2A2A"/>
                </a:solidFill>
                <a:latin typeface="Verdana" panose="020B0604030504040204" pitchFamily="34" charset="0"/>
                <a:ea typeface="微軟正黑體" panose="020B0604030504040204" pitchFamily="34" charset="-120"/>
                <a:cs typeface="Avenir Next"/>
              </a:rPr>
            </a:br>
            <a:endParaRPr lang="zh-TW" altLang="zh-TW" sz="4000" b="1" dirty="0">
              <a:solidFill>
                <a:srgbClr val="F75952"/>
              </a:solidFill>
              <a:effectLst/>
              <a:latin typeface="Verdana" panose="020B0604030504040204" pitchFamily="34" charset="0"/>
              <a:ea typeface="微軟正黑體" panose="020B0604030504040204" pitchFamily="34" charset="-120"/>
              <a:cs typeface="FreesiaUPC" panose="020B0604020202020204" pitchFamily="34" charset="-34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 fontScale="77500" lnSpcReduction="20000"/>
          </a:bodyPr>
          <a:lstStyle/>
          <a:p>
            <a:pPr rtl="0"/>
            <a:r>
              <a:rPr lang="zh-TW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en-US" altLang="zh-TW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rtl="0"/>
            <a:r>
              <a:rPr lang="en-US" altLang="ja-JP" sz="4400" b="0" kern="50" spc="-60" dirty="0">
                <a:solidFill>
                  <a:srgbClr val="2A2A2A"/>
                </a:solidFill>
                <a:effectLst/>
                <a:latin typeface="Verdana" panose="020B0604030504040204" pitchFamily="34" charset="0"/>
                <a:ea typeface="微軟正黑體" panose="020B0604030504040204" pitchFamily="34" charset="-120"/>
                <a:cs typeface="PingFang SC"/>
              </a:rPr>
              <a:t>				     </a:t>
            </a:r>
            <a:r>
              <a:rPr lang="ja-JP" altLang="zh-TW" sz="4400" b="0" kern="50" spc="-60" dirty="0">
                <a:solidFill>
                  <a:srgbClr val="2A2A2A"/>
                </a:solidFill>
                <a:effectLst/>
                <a:latin typeface="Verdana" panose="020B0604030504040204" pitchFamily="34" charset="0"/>
                <a:ea typeface="微軟正黑體" panose="020B0604030504040204" pitchFamily="34" charset="-120"/>
                <a:cs typeface="PingFang SC"/>
              </a:rPr>
              <a:t>蕭佩</a:t>
            </a:r>
            <a:r>
              <a:rPr lang="zh-TW" altLang="en-US" sz="4400" kern="50" spc="-60" dirty="0">
                <a:solidFill>
                  <a:srgbClr val="2A2A2A"/>
                </a:solidFill>
                <a:latin typeface="Verdana" panose="020B0604030504040204" pitchFamily="34" charset="0"/>
                <a:ea typeface="微軟正黑體" panose="020B0604030504040204" pitchFamily="34" charset="-120"/>
                <a:cs typeface="PingFang SC"/>
              </a:rPr>
              <a:t>姍</a:t>
            </a:r>
            <a:endParaRPr lang="zh-tw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" name="直線接點​​(S)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圖片 19" descr="一張含有 電子用品, 電路 的圖片&#10;&#10;自動產生的描述">
            <a:extLst>
              <a:ext uri="{FF2B5EF4-FFF2-40B4-BE49-F238E27FC236}">
                <a16:creationId xmlns:a16="http://schemas.microsoft.com/office/drawing/2014/main" id="{0305615B-EC01-4956-8742-BDB2FDC4C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488"/>
            <a:ext cx="5059680" cy="681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64BFA1-BEC8-4D08-B78C-94AD8F81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435" y="46037"/>
            <a:ext cx="10302240" cy="2466757"/>
          </a:xfrm>
        </p:spPr>
        <p:txBody>
          <a:bodyPr anchor="b">
            <a:normAutofit/>
          </a:bodyPr>
          <a:lstStyle/>
          <a:p>
            <a:r>
              <a:rPr lang="ja-JP" altLang="zh-TW" sz="4300" kern="50" spc="-5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00FFFF"/>
                </a:highlight>
              </a:rPr>
              <a:t>訪談</a:t>
            </a:r>
            <a:r>
              <a:rPr lang="zh-TW" altLang="en-US" sz="4300" kern="50" spc="-5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00FFFF"/>
                </a:highlight>
              </a:rPr>
              <a:t> </a:t>
            </a:r>
            <a:r>
              <a:rPr lang="ja-JP" altLang="zh-TW" sz="4300" kern="50" spc="-5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00FFFF"/>
                </a:highlight>
              </a:rPr>
              <a:t>主題</a:t>
            </a:r>
            <a:r>
              <a:rPr lang="zh-TW" altLang="en-US" sz="4300" kern="50" spc="-5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00FFFF"/>
                </a:highlight>
              </a:rPr>
              <a:t>      </a:t>
            </a:r>
            <a:r>
              <a:rPr lang="zh-TW" altLang="en-US" sz="4300" kern="50" spc="-5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0000FF"/>
                </a:highlight>
              </a:rPr>
              <a:t>        </a:t>
            </a:r>
            <a:r>
              <a:rPr lang="zh-TW" altLang="zh-TW" sz="4300" kern="50" spc="-5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</a:rPr>
              <a:t>學制</a:t>
            </a:r>
            <a:r>
              <a:rPr lang="zh-TW" altLang="en-US" sz="4300" kern="50" spc="-5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</a:rPr>
              <a:t> </a:t>
            </a:r>
            <a:r>
              <a:rPr lang="ja-JP" altLang="zh-TW" sz="4300" kern="50" spc="-5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</a:rPr>
              <a:t>經驗</a:t>
            </a:r>
            <a:r>
              <a:rPr lang="zh-TW" altLang="en-US" sz="4300" kern="50" spc="-5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</a:rPr>
              <a:t> </a:t>
            </a:r>
            <a:r>
              <a:rPr lang="ja-JP" altLang="zh-TW" sz="4300" kern="50" spc="-5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</a:rPr>
              <a:t>分享</a:t>
            </a:r>
            <a:r>
              <a:rPr lang="zh-TW" altLang="en-US" sz="4300" kern="50" spc="-5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</a:rPr>
              <a:t>   </a:t>
            </a:r>
            <a:br>
              <a:rPr lang="zh-TW" altLang="zh-TW" sz="4300" dirty="0">
                <a:effectLst/>
                <a:highlight>
                  <a:srgbClr val="00FF00"/>
                </a:highlight>
              </a:rPr>
            </a:br>
            <a:r>
              <a:rPr lang="zh-TW" altLang="en-US" sz="4300" dirty="0">
                <a:effectLst/>
                <a:highlight>
                  <a:srgbClr val="00FF00"/>
                </a:highlight>
              </a:rPr>
              <a:t> </a:t>
            </a:r>
            <a:endParaRPr lang="zh-TW" altLang="en-US" sz="4300" dirty="0">
              <a:highlight>
                <a:srgbClr val="00FF00"/>
              </a:highlight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35C8D6-59F8-4BA8-8277-0B122B7A79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5680" y="3579707"/>
            <a:ext cx="4639736" cy="3748193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1000"/>
              </a:spcAft>
              <a:buNone/>
              <a:tabLst>
                <a:tab pos="5727700" algn="r"/>
              </a:tabLst>
            </a:pPr>
            <a:r>
              <a:rPr lang="ja-JP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簡介：</a:t>
            </a:r>
            <a:r>
              <a:rPr lang="zh-TW" altLang="en-US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由於</a:t>
            </a:r>
            <a:r>
              <a:rPr lang="ja-JP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新五專的崛起，帶來了</a:t>
            </a:r>
            <a:r>
              <a:rPr lang="en-US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PTECH</a:t>
            </a:r>
            <a:r>
              <a:rPr lang="ja-JP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這個創新學制，然而身為同樣五專學制的</a:t>
            </a:r>
            <a:r>
              <a:rPr lang="zh-TW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我們</a:t>
            </a:r>
            <a:r>
              <a:rPr lang="ja-JP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對於這個學制十分好奇，於是我們開啟這</a:t>
            </a:r>
            <a:r>
              <a:rPr lang="zh-TW" altLang="en-US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次令人難忘的</a:t>
            </a:r>
            <a:r>
              <a:rPr lang="ja-JP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訪談</a:t>
            </a:r>
            <a:r>
              <a:rPr lang="ja-JP" altLang="zh-TW" sz="2800" b="1" kern="50" spc="-50" dirty="0">
                <a:effectLst/>
              </a:rPr>
              <a:t>。</a:t>
            </a:r>
            <a:endParaRPr lang="zh-TW" altLang="zh-TW" sz="2800" b="1" dirty="0">
              <a:effectLst/>
            </a:endParaRPr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D5618C6-C56F-400B-90E1-152CA7624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670" y="0"/>
            <a:ext cx="3748194" cy="3429000"/>
          </a:xfrm>
          <a:prstGeom prst="rect">
            <a:avLst/>
          </a:prstGeom>
          <a:noFill/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0AB76B-F17C-4C09-A822-508D0AE8F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A55B7815-05FA-48A0-B9F7-1E04C4F2927A}" type="datetime1">
              <a:rPr lang="zh-TW" altLang="en-US" smtClean="0"/>
              <a:pPr rtl="0">
                <a:spcAft>
                  <a:spcPts val="600"/>
                </a:spcAft>
              </a:pPr>
              <a:t>2022/3/1</a:t>
            </a:fld>
            <a:endParaRPr 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38F70A9-8713-456E-B216-4C42BF0D2E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792" y="4160470"/>
            <a:ext cx="3272118" cy="214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65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5807603-4A31-47BE-9E61-6B44EB98E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770" y="1497106"/>
            <a:ext cx="2126631" cy="576428"/>
          </a:xfrm>
        </p:spPr>
        <p:txBody>
          <a:bodyPr anchor="b">
            <a:noAutofit/>
          </a:bodyPr>
          <a:lstStyle/>
          <a:p>
            <a:pPr marL="228600">
              <a:spcAft>
                <a:spcPts val="1000"/>
              </a:spcAft>
              <a:tabLst>
                <a:tab pos="5727700" algn="r"/>
              </a:tabLst>
            </a:pPr>
            <a:r>
              <a:rPr lang="zh-TW" altLang="en-US" sz="3200" dirty="0"/>
              <a:t>訪談內容</a:t>
            </a:r>
            <a:endParaRPr lang="en-US" sz="32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669738B-3FD2-4087-802A-2E5E0C39F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487" y="781621"/>
            <a:ext cx="3772513" cy="5294757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6851C37-F8FF-44C5-84BD-7B016C90E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2296389"/>
            <a:ext cx="3517567" cy="3064505"/>
          </a:xfrm>
        </p:spPr>
        <p:txBody>
          <a:bodyPr>
            <a:noAutofit/>
          </a:bodyPr>
          <a:lstStyle/>
          <a:p>
            <a:r>
              <a:rPr lang="en-US" altLang="zh-TW" sz="2000" i="1" dirty="0">
                <a:effectLst/>
                <a:latin typeface="+mn-ea"/>
                <a:ea typeface="+mn-ea"/>
              </a:rPr>
              <a:t>1.</a:t>
            </a:r>
            <a:r>
              <a:rPr lang="ja-JP" altLang="zh-TW" sz="2000" i="1" dirty="0">
                <a:effectLst/>
                <a:latin typeface="+mn-ea"/>
                <a:ea typeface="+mn-ea"/>
              </a:rPr>
              <a:t>為何選擇Ｐ</a:t>
            </a:r>
            <a:r>
              <a:rPr lang="en-US" altLang="zh-TW" sz="2000" i="1" dirty="0">
                <a:effectLst/>
                <a:latin typeface="+mn-ea"/>
                <a:ea typeface="+mn-ea"/>
              </a:rPr>
              <a:t>-TECH</a:t>
            </a:r>
            <a:r>
              <a:rPr lang="ja-JP" altLang="zh-TW" sz="2000" i="1" dirty="0">
                <a:effectLst/>
                <a:latin typeface="+mn-ea"/>
                <a:ea typeface="+mn-ea"/>
              </a:rPr>
              <a:t>這個學制？</a:t>
            </a:r>
            <a:br>
              <a:rPr lang="zh-TW" altLang="zh-TW" sz="2000" i="1" dirty="0">
                <a:effectLst/>
                <a:latin typeface="+mn-ea"/>
                <a:ea typeface="+mn-ea"/>
              </a:rPr>
            </a:br>
            <a:r>
              <a:rPr lang="zh-TW" altLang="zh-TW" sz="2000" kern="50" spc="-50" dirty="0">
                <a:effectLst/>
                <a:latin typeface="+mj-ea"/>
                <a:ea typeface="+mj-ea"/>
              </a:rPr>
              <a:t>會考完之後，認為學習專業課程的意義大於就讀一般高中職，相較之下能夠學習到更多的專業實務課程。</a:t>
            </a:r>
            <a:br>
              <a:rPr lang="zh-TW" altLang="zh-TW" sz="2000" dirty="0">
                <a:effectLst/>
                <a:latin typeface="+mj-ea"/>
                <a:ea typeface="+mj-ea"/>
              </a:rPr>
            </a:br>
            <a:endParaRPr lang="en-US" altLang="zh-TW" sz="2000" dirty="0">
              <a:effectLst/>
              <a:latin typeface="+mj-ea"/>
              <a:ea typeface="+mj-ea"/>
            </a:endParaRPr>
          </a:p>
          <a:p>
            <a:r>
              <a:rPr lang="en-US" altLang="zh-TW" sz="2000" i="1" dirty="0">
                <a:effectLst/>
                <a:latin typeface="+mn-ea"/>
                <a:ea typeface="+mn-ea"/>
              </a:rPr>
              <a:t>2.</a:t>
            </a:r>
            <a:r>
              <a:rPr lang="ja-JP" altLang="zh-TW" sz="2000" i="1" dirty="0">
                <a:effectLst/>
                <a:latin typeface="+mn-ea"/>
                <a:ea typeface="+mn-ea"/>
              </a:rPr>
              <a:t>它跟普通高中職及科大 普大差別在哪？</a:t>
            </a:r>
            <a:br>
              <a:rPr lang="zh-TW" altLang="zh-TW" sz="2000" i="1" dirty="0">
                <a:effectLst/>
                <a:latin typeface="+mn-ea"/>
                <a:ea typeface="+mn-ea"/>
              </a:rPr>
            </a:br>
            <a:r>
              <a:rPr lang="zh-TW" altLang="zh-TW" sz="2000" dirty="0">
                <a:effectLst/>
                <a:latin typeface="+mn-ea"/>
                <a:ea typeface="+mn-ea"/>
              </a:rPr>
              <a:t>相較之下，五專學習到的專業課程比高中多，相較於高職而言，實作較少。</a:t>
            </a:r>
            <a:br>
              <a:rPr lang="zh-TW" altLang="zh-TW" sz="2000" dirty="0">
                <a:effectLst/>
                <a:latin typeface="+mn-ea"/>
                <a:ea typeface="+mn-ea"/>
              </a:rPr>
            </a:b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1726678-0DF2-45E5-8EF7-B488F912F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E96419C-65CA-4A96-8C8D-1B83D1EEA06C}" type="datetime1">
              <a:rPr lang="zh-TW" altLang="en-US" smtClean="0"/>
              <a:pPr rtl="0">
                <a:spcAft>
                  <a:spcPts val="600"/>
                </a:spcAft>
              </a:pPr>
              <a:t>2022/3/1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193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9F0744-E831-4435-956A-1F9F4041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916911"/>
          </a:xfrm>
        </p:spPr>
        <p:txBody>
          <a:bodyPr anchor="b">
            <a:normAutofit/>
          </a:bodyPr>
          <a:lstStyle/>
          <a:p>
            <a:r>
              <a:rPr lang="zh-TW" altLang="en-US" sz="1400" dirty="0"/>
              <a:t> </a:t>
            </a:r>
            <a:br>
              <a:rPr lang="en-US" altLang="zh-TW" sz="1400" dirty="0"/>
            </a:br>
            <a:endParaRPr lang="zh-TW" altLang="en-US" sz="140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6851896-5E44-47F6-BDD1-0E14922B1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4" y="1454970"/>
            <a:ext cx="3517567" cy="3064505"/>
          </a:xfrm>
        </p:spPr>
        <p:txBody>
          <a:bodyPr>
            <a:noAutofit/>
          </a:bodyPr>
          <a:lstStyle/>
          <a:p>
            <a:r>
              <a:rPr lang="en-US" altLang="zh-TW" i="1" dirty="0">
                <a:effectLst/>
                <a:latin typeface="+mj-ea"/>
                <a:ea typeface="+mj-ea"/>
              </a:rPr>
              <a:t>3.</a:t>
            </a:r>
            <a:r>
              <a:rPr lang="ja-JP" altLang="zh-TW" i="1" dirty="0">
                <a:effectLst/>
                <a:latin typeface="+mj-ea"/>
                <a:ea typeface="+mj-ea"/>
              </a:rPr>
              <a:t>智慧自動化工程科以機械 電機 資訊為主，未來的出路？</a:t>
            </a:r>
            <a:br>
              <a:rPr lang="zh-TW" altLang="zh-TW" i="1" dirty="0">
                <a:effectLst/>
                <a:latin typeface="+mj-ea"/>
                <a:ea typeface="+mj-ea"/>
              </a:rPr>
            </a:br>
            <a:r>
              <a:rPr lang="zh-TW" altLang="zh-TW" dirty="0">
                <a:effectLst/>
                <a:latin typeface="+mn-ea"/>
                <a:ea typeface="+mn-ea"/>
              </a:rPr>
              <a:t>依照自己的興趣，有電子類 機械類以及軟體類可以發展，在程式設計的部分，學習到了</a:t>
            </a:r>
            <a:r>
              <a:rPr lang="en-US" altLang="zh-TW" dirty="0">
                <a:effectLst/>
                <a:latin typeface="+mn-ea"/>
                <a:ea typeface="+mn-ea"/>
              </a:rPr>
              <a:t>C++ python </a:t>
            </a:r>
            <a:r>
              <a:rPr lang="zh-TW" altLang="zh-TW" dirty="0">
                <a:effectLst/>
                <a:latin typeface="+mn-ea"/>
                <a:ea typeface="+mn-ea"/>
              </a:rPr>
              <a:t>以及深度學習的部分，專三開始可以到外系修課。</a:t>
            </a:r>
            <a:endParaRPr lang="en-US" altLang="zh-TW" dirty="0">
              <a:effectLst/>
              <a:latin typeface="+mn-ea"/>
              <a:ea typeface="+mn-ea"/>
            </a:endParaRPr>
          </a:p>
          <a:p>
            <a:br>
              <a:rPr lang="zh-TW" altLang="zh-TW" dirty="0">
                <a:effectLst/>
                <a:latin typeface="+mn-ea"/>
                <a:ea typeface="+mn-ea"/>
              </a:rPr>
            </a:br>
            <a:r>
              <a:rPr lang="en-US" altLang="zh-TW" i="1" dirty="0">
                <a:effectLst/>
                <a:latin typeface="+mj-ea"/>
                <a:ea typeface="+mj-ea"/>
              </a:rPr>
              <a:t>4.PTECH</a:t>
            </a:r>
            <a:r>
              <a:rPr lang="ja-JP" altLang="zh-TW" i="1" dirty="0">
                <a:effectLst/>
                <a:latin typeface="+mj-ea"/>
                <a:ea typeface="+mj-ea"/>
              </a:rPr>
              <a:t>教會你的事？</a:t>
            </a:r>
            <a:endParaRPr lang="en-US" altLang="ja-JP" i="1" dirty="0">
              <a:latin typeface="+mj-ea"/>
              <a:ea typeface="+mj-ea"/>
            </a:endParaRPr>
          </a:p>
          <a:p>
            <a:r>
              <a:rPr lang="zh-TW" altLang="zh-TW" cap="all" dirty="0">
                <a:effectLst/>
                <a:latin typeface="+mj-ea"/>
                <a:ea typeface="+mj-ea"/>
              </a:rPr>
              <a:t>從中學習到職場軟實力，透過職場實務學習實際職場上的事物。</a:t>
            </a:r>
            <a:br>
              <a:rPr lang="zh-TW" altLang="zh-TW" dirty="0">
                <a:effectLst/>
                <a:latin typeface="+mj-ea"/>
                <a:ea typeface="+mj-ea"/>
              </a:rPr>
            </a:br>
            <a:endParaRPr lang="en-US" dirty="0">
              <a:latin typeface="+mj-ea"/>
              <a:ea typeface="+mj-ea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9067BB3-A330-4C63-9055-8FDB72F6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2EB3E87-0960-43A6-B33B-AB6B15A82628}" type="datetime1">
              <a:rPr lang="zh-TW" altLang="en-US" smtClean="0"/>
              <a:pPr rtl="0">
                <a:spcAft>
                  <a:spcPts val="600"/>
                </a:spcAft>
              </a:pPr>
              <a:t>2022/3/1</a:t>
            </a:fld>
            <a:endParaRPr 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F1521DD0-47B1-44CE-AEDB-B93EA3EDB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219" y="857823"/>
            <a:ext cx="3530781" cy="4953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51257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9F0744-E831-4435-956A-1F9F4041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17" y="293324"/>
            <a:ext cx="3517567" cy="916911"/>
          </a:xfrm>
        </p:spPr>
        <p:txBody>
          <a:bodyPr anchor="b">
            <a:normAutofit/>
          </a:bodyPr>
          <a:lstStyle/>
          <a:p>
            <a:r>
              <a:rPr lang="zh-TW" altLang="en-US" sz="1400" dirty="0"/>
              <a:t> </a:t>
            </a:r>
            <a:br>
              <a:rPr lang="en-US" altLang="zh-TW" sz="1400" dirty="0"/>
            </a:br>
            <a:endParaRPr lang="zh-TW" altLang="en-US" sz="140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6851896-5E44-47F6-BDD1-0E14922B1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818" y="1419111"/>
            <a:ext cx="3517567" cy="3064505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tabLst>
                <a:tab pos="5727700" algn="r"/>
              </a:tabLst>
            </a:pPr>
            <a:r>
              <a:rPr lang="en-US" altLang="zh-TW" sz="1600" b="1" i="1" dirty="0">
                <a:solidFill>
                  <a:schemeClr val="bg1"/>
                </a:solidFill>
                <a:latin typeface="+mj-ea"/>
                <a:ea typeface="+mj-ea"/>
                <a:cs typeface="PingFang TC"/>
              </a:rPr>
              <a:t>5</a:t>
            </a:r>
            <a:r>
              <a:rPr lang="en-US" altLang="zh-TW" sz="1600" b="1" i="1" dirty="0">
                <a:solidFill>
                  <a:schemeClr val="bg1"/>
                </a:solidFill>
                <a:effectLst/>
                <a:latin typeface="+mj-ea"/>
                <a:ea typeface="+mj-ea"/>
                <a:cs typeface="PingFang TC"/>
              </a:rPr>
              <a:t>.</a:t>
            </a:r>
            <a:r>
              <a:rPr lang="ja-JP" altLang="zh-TW" sz="1600" i="1" dirty="0">
                <a:solidFill>
                  <a:schemeClr val="bg1"/>
                </a:solidFill>
                <a:effectLst/>
                <a:latin typeface="+mj-ea"/>
                <a:ea typeface="+mj-ea"/>
                <a:cs typeface="PingFang TC"/>
              </a:rPr>
              <a:t>ＰＴＥＣＨ學制的特色教學</a:t>
            </a:r>
            <a:r>
              <a:rPr lang="ja-JP" altLang="zh-TW" sz="1600" i="1" dirty="0">
                <a:solidFill>
                  <a:schemeClr val="bg1"/>
                </a:solidFill>
                <a:effectLst/>
                <a:latin typeface="+mj-ea"/>
                <a:ea typeface="+mj-ea"/>
                <a:cs typeface="Arial Rounded MT Bold" panose="020F0704030504030204" pitchFamily="34" charset="0"/>
              </a:rPr>
              <a:t> </a:t>
            </a:r>
            <a:r>
              <a:rPr lang="ja-JP" altLang="zh-TW" sz="1600" i="1" dirty="0">
                <a:solidFill>
                  <a:schemeClr val="bg1"/>
                </a:solidFill>
                <a:effectLst/>
                <a:latin typeface="+mj-ea"/>
                <a:ea typeface="+mj-ea"/>
                <a:cs typeface="PingFang SC"/>
              </a:rPr>
              <a:t>是融入在各個課程中還是一門獨立的課程？</a:t>
            </a:r>
            <a:endParaRPr lang="en-US" altLang="ja-JP" sz="1600" i="1" dirty="0">
              <a:solidFill>
                <a:schemeClr val="bg1"/>
              </a:solidFill>
              <a:effectLst/>
              <a:latin typeface="+mj-ea"/>
              <a:ea typeface="+mj-ea"/>
              <a:cs typeface="PingFang SC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tabLst>
                <a:tab pos="5727700" algn="r"/>
              </a:tabLst>
            </a:pPr>
            <a:r>
              <a:rPr lang="zh-TW" altLang="zh-TW" sz="1800" dirty="0">
                <a:solidFill>
                  <a:schemeClr val="bg1"/>
                </a:solidFill>
                <a:effectLst/>
                <a:latin typeface="+mj-ea"/>
                <a:ea typeface="+mj-ea"/>
                <a:cs typeface="FreesiaUPC" panose="020B0604020202020204" pitchFamily="34" charset="-34"/>
              </a:rPr>
              <a:t>部分融入式教學，部分獨立課程，</a:t>
            </a:r>
            <a:endParaRPr lang="en-US" altLang="zh-TW" sz="1800" dirty="0">
              <a:solidFill>
                <a:schemeClr val="bg1"/>
              </a:solidFill>
              <a:effectLst/>
              <a:latin typeface="+mj-ea"/>
              <a:ea typeface="+mj-ea"/>
              <a:cs typeface="FreesiaUPC" panose="020B0604020202020204" pitchFamily="34" charset="-34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tabLst>
                <a:tab pos="5727700" algn="r"/>
              </a:tabLst>
            </a:pPr>
            <a:r>
              <a:rPr lang="en-US" altLang="zh-TW" b="1" i="1" dirty="0">
                <a:solidFill>
                  <a:schemeClr val="bg1"/>
                </a:solidFill>
                <a:latin typeface="+mj-ea"/>
                <a:ea typeface="+mj-ea"/>
                <a:cs typeface="PingFang TC"/>
              </a:rPr>
              <a:t>6</a:t>
            </a:r>
            <a:r>
              <a:rPr lang="en-US" altLang="zh-TW" sz="1800" b="1" i="1" dirty="0">
                <a:solidFill>
                  <a:schemeClr val="bg1"/>
                </a:solidFill>
                <a:effectLst/>
                <a:latin typeface="+mj-ea"/>
                <a:ea typeface="+mj-ea"/>
                <a:cs typeface="PingFang TC"/>
              </a:rPr>
              <a:t>.</a:t>
            </a:r>
            <a:r>
              <a:rPr lang="ja-JP" altLang="zh-TW" sz="1800" i="1" dirty="0">
                <a:solidFill>
                  <a:schemeClr val="bg1"/>
                </a:solidFill>
                <a:effectLst/>
                <a:latin typeface="+mj-ea"/>
                <a:ea typeface="+mj-ea"/>
                <a:cs typeface="PingFang TC"/>
              </a:rPr>
              <a:t>ＰＴＥＣＨ有四個班，跟其他科班相比，北科大的特色為何？差異在哪？（合作企業之類的）</a:t>
            </a:r>
            <a:endParaRPr lang="en-US" altLang="ja-JP" i="1" dirty="0">
              <a:solidFill>
                <a:schemeClr val="bg1"/>
              </a:solidFill>
              <a:latin typeface="+mj-ea"/>
              <a:ea typeface="+mj-ea"/>
              <a:cs typeface="PingFang TC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tabLst>
                <a:tab pos="5727700" algn="r"/>
              </a:tabLst>
            </a:pPr>
            <a:r>
              <a:rPr lang="zh-TW" altLang="zh-TW" sz="1800" dirty="0">
                <a:solidFill>
                  <a:schemeClr val="bg1"/>
                </a:solidFill>
                <a:effectLst/>
                <a:latin typeface="+mj-ea"/>
                <a:ea typeface="+mj-ea"/>
                <a:cs typeface="PingFang TC"/>
              </a:rPr>
              <a:t>每個學校專業科目不一樣，合作企業也不一樣，北科有生涯規劃必修課程，可以從台北工專畢業校友身上學習到珍貴的經驗。</a:t>
            </a:r>
            <a:endParaRPr lang="zh-TW" altLang="zh-TW" sz="1800" dirty="0">
              <a:solidFill>
                <a:schemeClr val="bg1"/>
              </a:solidFill>
              <a:effectLst/>
              <a:latin typeface="+mj-ea"/>
              <a:ea typeface="+mj-ea"/>
              <a:cs typeface="FreesiaUPC" panose="020B0604020202020204" pitchFamily="34" charset="-34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9067BB3-A330-4C63-9055-8FDB72F6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2EB3E87-0960-43A6-B33B-AB6B15A82628}" type="datetime1">
              <a:rPr lang="zh-TW" altLang="en-US" smtClean="0"/>
              <a:pPr rtl="0">
                <a:spcAft>
                  <a:spcPts val="600"/>
                </a:spcAft>
              </a:pPr>
              <a:t>2022/3/1</a:t>
            </a:fld>
            <a:endParaRPr 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F1521DD0-47B1-44CE-AEDB-B93EA3EDB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219" y="857823"/>
            <a:ext cx="3530781" cy="4953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3105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9F0744-E831-4435-956A-1F9F4041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17" y="293324"/>
            <a:ext cx="3517567" cy="916911"/>
          </a:xfrm>
        </p:spPr>
        <p:txBody>
          <a:bodyPr anchor="b">
            <a:normAutofit/>
          </a:bodyPr>
          <a:lstStyle/>
          <a:p>
            <a:r>
              <a:rPr lang="zh-TW" altLang="en-US" sz="1400" dirty="0"/>
              <a:t> </a:t>
            </a:r>
            <a:br>
              <a:rPr lang="en-US" altLang="zh-TW" sz="1400" dirty="0"/>
            </a:br>
            <a:endParaRPr lang="zh-TW" altLang="en-US" sz="140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6851896-5E44-47F6-BDD1-0E14922B1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818" y="1419111"/>
            <a:ext cx="3517567" cy="3064505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tabLst>
                <a:tab pos="5727700" algn="r"/>
              </a:tabLst>
            </a:pPr>
            <a:r>
              <a:rPr lang="en-US" altLang="zh-TW" b="1" i="1" dirty="0">
                <a:solidFill>
                  <a:schemeClr val="bg1"/>
                </a:solidFill>
                <a:latin typeface="+mj-ea"/>
                <a:ea typeface="+mj-ea"/>
                <a:cs typeface="PingFang SC"/>
              </a:rPr>
              <a:t>7</a:t>
            </a:r>
            <a:r>
              <a:rPr lang="en-US" altLang="zh-TW" sz="1800" b="1" i="1" dirty="0">
                <a:solidFill>
                  <a:schemeClr val="bg1"/>
                </a:solidFill>
                <a:effectLst/>
                <a:latin typeface="+mj-ea"/>
                <a:ea typeface="+mj-ea"/>
                <a:cs typeface="PingFang SC"/>
              </a:rPr>
              <a:t>.</a:t>
            </a:r>
            <a:r>
              <a:rPr lang="ja-JP" altLang="zh-TW" sz="1800" i="1" dirty="0">
                <a:solidFill>
                  <a:schemeClr val="bg1"/>
                </a:solidFill>
                <a:effectLst/>
                <a:latin typeface="+mj-ea"/>
                <a:ea typeface="+mj-ea"/>
                <a:cs typeface="PingFang SC"/>
              </a:rPr>
              <a:t>課程是雙語的嗎？</a:t>
            </a:r>
            <a:endParaRPr lang="en-US" altLang="ja-JP" sz="1800" i="1" dirty="0">
              <a:solidFill>
                <a:schemeClr val="bg1"/>
              </a:solidFill>
              <a:effectLst/>
              <a:latin typeface="+mj-ea"/>
              <a:ea typeface="+mj-ea"/>
              <a:cs typeface="PingFang SC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tabLst>
                <a:tab pos="5727700" algn="r"/>
              </a:tabLst>
            </a:pPr>
            <a:r>
              <a:rPr lang="zh-TW" altLang="zh-TW" sz="1800" dirty="0">
                <a:solidFill>
                  <a:schemeClr val="bg1"/>
                </a:solidFill>
                <a:effectLst/>
                <a:latin typeface="+mj-ea"/>
                <a:ea typeface="+mj-ea"/>
                <a:cs typeface="FreesiaUPC" panose="020B0604020202020204" pitchFamily="34" charset="-34"/>
              </a:rPr>
              <a:t>低年級的雙語課程</a:t>
            </a:r>
            <a:r>
              <a:rPr lang="zh-TW" altLang="zh-TW" sz="1800" dirty="0">
                <a:solidFill>
                  <a:schemeClr val="bg1"/>
                </a:solidFill>
                <a:effectLst/>
                <a:latin typeface="+mj-ea"/>
                <a:ea typeface="+mj-ea"/>
                <a:cs typeface="微軟正黑體" panose="020B0604030504040204" pitchFamily="34" charset="-120"/>
              </a:rPr>
              <a:t>比較少，高年級比較多，例如</a:t>
            </a:r>
            <a:r>
              <a:rPr lang="en-US" altLang="zh-TW" sz="1800" dirty="0">
                <a:solidFill>
                  <a:schemeClr val="bg1"/>
                </a:solidFill>
                <a:effectLst/>
                <a:latin typeface="+mj-ea"/>
                <a:ea typeface="+mj-ea"/>
                <a:cs typeface="微軟正黑體" panose="020B0604030504040204" pitchFamily="34" charset="-120"/>
              </a:rPr>
              <a:t>:</a:t>
            </a:r>
            <a:r>
              <a:rPr lang="zh-TW" altLang="zh-TW" sz="1800" dirty="0">
                <a:solidFill>
                  <a:schemeClr val="bg1"/>
                </a:solidFill>
                <a:effectLst/>
                <a:latin typeface="+mj-ea"/>
                <a:ea typeface="+mj-ea"/>
                <a:cs typeface="微軟正黑體" panose="020B0604030504040204" pitchFamily="34" charset="-120"/>
              </a:rPr>
              <a:t>英文聽力、英文</a:t>
            </a:r>
            <a:r>
              <a:rPr lang="zh-TW" altLang="zh-TW" sz="18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微軟正黑體" panose="020B0604030504040204" pitchFamily="34" charset="-120"/>
                <a:cs typeface="微軟正黑體" panose="020B0604030504040204" pitchFamily="34" charset="-120"/>
              </a:rPr>
              <a:t>簡報等等。</a:t>
            </a:r>
            <a:r>
              <a:rPr lang="en-US" altLang="zh-TW" sz="1800" b="0" kern="0" cap="all" dirty="0">
                <a:solidFill>
                  <a:srgbClr val="2A2A2A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PingFang SC"/>
              </a:rPr>
              <a:t> 4.</a:t>
            </a:r>
            <a:r>
              <a:rPr lang="ja-JP" altLang="zh-TW" sz="1800" b="0" kern="0" cap="all" dirty="0">
                <a:solidFill>
                  <a:srgbClr val="2A2A2A"/>
                </a:solidFill>
                <a:effectLst/>
                <a:latin typeface="Verdana" panose="020B0604030504040204" pitchFamily="34" charset="0"/>
                <a:ea typeface="微軟正黑體" panose="020B0604030504040204" pitchFamily="34" charset="-120"/>
                <a:cs typeface="PingFang SC"/>
              </a:rPr>
              <a:t>專業課程跟</a:t>
            </a:r>
            <a:endParaRPr lang="en-US" altLang="ja-JP" sz="1800" b="0" kern="0" cap="all" dirty="0">
              <a:solidFill>
                <a:srgbClr val="2A2A2A"/>
              </a:solidFill>
              <a:effectLst/>
              <a:latin typeface="Verdana" panose="020B0604030504040204" pitchFamily="34" charset="0"/>
              <a:ea typeface="微軟正黑體" panose="020B0604030504040204" pitchFamily="34" charset="-120"/>
              <a:cs typeface="PingFang SC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tabLst>
                <a:tab pos="5727700" algn="r"/>
              </a:tabLst>
            </a:pPr>
            <a:r>
              <a:rPr lang="en-US" altLang="zh-TW" b="1" i="1" u="sng" dirty="0">
                <a:solidFill>
                  <a:schemeClr val="bg1"/>
                </a:solidFill>
                <a:latin typeface="+mj-ea"/>
                <a:ea typeface="+mj-ea"/>
                <a:cs typeface="PingFang SC"/>
              </a:rPr>
              <a:t>8</a:t>
            </a:r>
            <a:r>
              <a:rPr lang="en-US" altLang="zh-TW" sz="1800" b="1" i="1" u="sng" dirty="0">
                <a:solidFill>
                  <a:schemeClr val="bg1"/>
                </a:solidFill>
                <a:effectLst/>
                <a:latin typeface="+mj-ea"/>
                <a:ea typeface="+mj-ea"/>
                <a:cs typeface="PingFang SC"/>
              </a:rPr>
              <a:t>.</a:t>
            </a:r>
            <a:r>
              <a:rPr lang="ja-JP" altLang="zh-TW" sz="1800" i="1" u="sng" dirty="0">
                <a:solidFill>
                  <a:schemeClr val="bg1"/>
                </a:solidFill>
                <a:effectLst/>
                <a:latin typeface="+mj-ea"/>
                <a:ea typeface="+mj-ea"/>
                <a:cs typeface="PingFang SC"/>
              </a:rPr>
              <a:t>專業課程跟</a:t>
            </a:r>
            <a:r>
              <a:rPr lang="ja-JP" altLang="zh-TW" sz="1800" i="1" dirty="0">
                <a:solidFill>
                  <a:schemeClr val="bg1"/>
                </a:solidFill>
                <a:effectLst/>
                <a:latin typeface="+mj-ea"/>
                <a:ea typeface="+mj-ea"/>
                <a:cs typeface="PingFang SC"/>
              </a:rPr>
              <a:t>大學部的差別？</a:t>
            </a:r>
            <a:endParaRPr lang="zh-TW" altLang="zh-TW" sz="1800" i="1" dirty="0">
              <a:solidFill>
                <a:schemeClr val="bg1"/>
              </a:solidFill>
              <a:effectLst/>
              <a:latin typeface="+mj-ea"/>
              <a:ea typeface="+mj-ea"/>
              <a:cs typeface="FreesiaUPC" panose="020B0604020202020204" pitchFamily="34" charset="-34"/>
            </a:endParaRP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lang="zh-TW" altLang="zh-TW" sz="1600" dirty="0">
                <a:solidFill>
                  <a:schemeClr val="bg1"/>
                </a:solidFill>
                <a:effectLst/>
                <a:latin typeface="+mj-ea"/>
                <a:ea typeface="+mj-ea"/>
                <a:cs typeface="FreesiaUPC" panose="020B0604020202020204" pitchFamily="34" charset="-34"/>
              </a:rPr>
              <a:t>原則上差不多，老師也是教大學部的。</a:t>
            </a:r>
          </a:p>
          <a:p>
            <a:pPr marL="228600">
              <a:spcAft>
                <a:spcPts val="18500"/>
              </a:spcAft>
            </a:pPr>
            <a:endParaRPr lang="zh-TW" altLang="zh-TW" sz="1800" dirty="0">
              <a:solidFill>
                <a:schemeClr val="bg1"/>
              </a:solidFill>
              <a:effectLst/>
              <a:latin typeface="Verdana" panose="020B0604030504040204" pitchFamily="34" charset="0"/>
              <a:ea typeface="微軟正黑體" panose="020B0604030504040204" pitchFamily="34" charset="-120"/>
              <a:cs typeface="FreesiaUPC" panose="020B0604020202020204" pitchFamily="34" charset="-34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9067BB3-A330-4C63-9055-8FDB72F6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2EB3E87-0960-43A6-B33B-AB6B15A82628}" type="datetime1">
              <a:rPr lang="zh-TW" altLang="en-US" smtClean="0"/>
              <a:pPr rtl="0">
                <a:spcAft>
                  <a:spcPts val="600"/>
                </a:spcAft>
              </a:pPr>
              <a:t>2022/3/1</a:t>
            </a:fld>
            <a:endParaRPr 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F1521DD0-47B1-44CE-AEDB-B93EA3EDB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219" y="857823"/>
            <a:ext cx="3530781" cy="4953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60809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9F0744-E831-4435-956A-1F9F4041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17" y="293324"/>
            <a:ext cx="3517567" cy="916911"/>
          </a:xfrm>
        </p:spPr>
        <p:txBody>
          <a:bodyPr anchor="b">
            <a:normAutofit/>
          </a:bodyPr>
          <a:lstStyle/>
          <a:p>
            <a:r>
              <a:rPr lang="zh-TW" altLang="en-US" sz="1400" dirty="0"/>
              <a:t> </a:t>
            </a:r>
            <a:br>
              <a:rPr lang="en-US" altLang="zh-TW" sz="1400" dirty="0"/>
            </a:br>
            <a:endParaRPr lang="zh-TW" altLang="en-US" sz="140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6851896-5E44-47F6-BDD1-0E14922B1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817" y="1463935"/>
            <a:ext cx="3517567" cy="3064505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lang="en-US" altLang="zh-TW" b="1" i="1" dirty="0">
                <a:solidFill>
                  <a:schemeClr val="bg1"/>
                </a:solidFill>
                <a:latin typeface="+mj-ea"/>
                <a:ea typeface="+mj-ea"/>
                <a:cs typeface="Arial Rounded MT Bold" panose="020F0704030504030204" pitchFamily="34" charset="0"/>
              </a:rPr>
              <a:t>9.</a:t>
            </a:r>
            <a:r>
              <a:rPr lang="en-US" altLang="zh-TW" sz="1800" i="1" dirty="0">
                <a:solidFill>
                  <a:schemeClr val="bg1"/>
                </a:solidFill>
                <a:effectLst/>
                <a:latin typeface="+mj-ea"/>
                <a:ea typeface="+mj-ea"/>
                <a:cs typeface="Arial Rounded MT Bold" panose="020F0704030504030204" pitchFamily="34" charset="0"/>
              </a:rPr>
              <a:t>PTECH</a:t>
            </a:r>
            <a:r>
              <a:rPr lang="ja-JP" altLang="zh-TW" sz="1800" i="1" dirty="0">
                <a:solidFill>
                  <a:schemeClr val="bg1"/>
                </a:solidFill>
                <a:effectLst/>
                <a:latin typeface="+mj-ea"/>
                <a:ea typeface="+mj-ea"/>
                <a:cs typeface="PingFang SC"/>
              </a:rPr>
              <a:t>對於未來的影響？</a:t>
            </a:r>
            <a:endParaRPr lang="zh-TW" altLang="zh-TW" sz="1800" i="1" dirty="0">
              <a:solidFill>
                <a:schemeClr val="bg1"/>
              </a:solidFill>
              <a:effectLst/>
              <a:latin typeface="+mj-ea"/>
              <a:ea typeface="+mj-ea"/>
              <a:cs typeface="FreesiaUPC" panose="020B0604020202020204" pitchFamily="34" charset="-34"/>
            </a:endParaRP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lang="zh-TW" altLang="zh-TW" sz="1800" cap="all" dirty="0">
                <a:solidFill>
                  <a:schemeClr val="bg1"/>
                </a:solidFill>
                <a:effectLst/>
                <a:latin typeface="+mj-ea"/>
                <a:ea typeface="+mj-ea"/>
                <a:cs typeface="Arial Rounded MT Bold" panose="020F0704030504030204" pitchFamily="34" charset="0"/>
              </a:rPr>
              <a:t>提早了解職場，學習職場所需的專業，相較之下視野比較廣，有跨國移動力的活動，例如</a:t>
            </a:r>
            <a:r>
              <a:rPr lang="en-US" altLang="zh-TW" sz="1800" cap="all" dirty="0">
                <a:solidFill>
                  <a:schemeClr val="bg1"/>
                </a:solidFill>
                <a:effectLst/>
                <a:latin typeface="+mj-ea"/>
                <a:ea typeface="+mj-ea"/>
                <a:cs typeface="Arial Rounded MT Bold" panose="020F0704030504030204" pitchFamily="34" charset="0"/>
              </a:rPr>
              <a:t>:</a:t>
            </a:r>
            <a:r>
              <a:rPr lang="zh-TW" altLang="zh-TW" sz="1800" cap="all" dirty="0">
                <a:solidFill>
                  <a:schemeClr val="bg1"/>
                </a:solidFill>
                <a:effectLst/>
                <a:latin typeface="+mj-ea"/>
                <a:ea typeface="+mj-ea"/>
                <a:cs typeface="Arial Rounded MT Bold" panose="020F0704030504030204" pitchFamily="34" charset="0"/>
              </a:rPr>
              <a:t>在企業實習時，學習電路板繪圖。</a:t>
            </a:r>
            <a:endParaRPr lang="en-US" altLang="zh-TW" cap="all" dirty="0">
              <a:solidFill>
                <a:schemeClr val="bg1"/>
              </a:solidFill>
              <a:latin typeface="+mj-ea"/>
              <a:ea typeface="+mj-ea"/>
              <a:cs typeface="FreesiaUPC" panose="020B0604020202020204" pitchFamily="34" charset="-34"/>
            </a:endParaRP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lang="en-US" altLang="zh-TW" b="1" i="1" dirty="0">
                <a:solidFill>
                  <a:schemeClr val="bg1"/>
                </a:solidFill>
                <a:latin typeface="+mj-ea"/>
                <a:ea typeface="+mj-ea"/>
                <a:cs typeface="Arial Rounded MT Bold" panose="020F0704030504030204" pitchFamily="34" charset="0"/>
              </a:rPr>
              <a:t>10</a:t>
            </a:r>
            <a:r>
              <a:rPr lang="en-US" altLang="zh-TW" sz="1800" b="1" i="1" dirty="0">
                <a:solidFill>
                  <a:schemeClr val="bg1"/>
                </a:solidFill>
                <a:effectLst/>
                <a:latin typeface="+mj-ea"/>
                <a:ea typeface="+mj-ea"/>
                <a:cs typeface="Arial Rounded MT Bold" panose="020F0704030504030204" pitchFamily="34" charset="0"/>
              </a:rPr>
              <a:t>.</a:t>
            </a:r>
            <a:r>
              <a:rPr lang="en-US" altLang="zh-TW" sz="1800" i="1" dirty="0">
                <a:solidFill>
                  <a:schemeClr val="bg1"/>
                </a:solidFill>
                <a:effectLst/>
                <a:latin typeface="+mj-ea"/>
                <a:ea typeface="+mj-ea"/>
                <a:cs typeface="Arial Rounded MT Bold" panose="020F0704030504030204" pitchFamily="34" charset="0"/>
              </a:rPr>
              <a:t>PTECH</a:t>
            </a:r>
            <a:r>
              <a:rPr lang="ja-JP" altLang="zh-TW" sz="1800" i="1" dirty="0">
                <a:solidFill>
                  <a:schemeClr val="bg1"/>
                </a:solidFill>
                <a:effectLst/>
                <a:latin typeface="+mj-ea"/>
                <a:ea typeface="+mj-ea"/>
                <a:cs typeface="PingFang SC"/>
              </a:rPr>
              <a:t>數位學習平台帶給你什麼不一樣的經驗？</a:t>
            </a:r>
            <a:endParaRPr lang="zh-TW" altLang="zh-TW" sz="1800" i="1" dirty="0">
              <a:solidFill>
                <a:schemeClr val="bg1"/>
              </a:solidFill>
              <a:effectLst/>
              <a:latin typeface="+mj-ea"/>
              <a:ea typeface="+mj-ea"/>
              <a:cs typeface="FreesiaUPC" panose="020B0604020202020204" pitchFamily="34" charset="-34"/>
            </a:endParaRP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lang="zh-TW" altLang="zh-TW" sz="2000" dirty="0">
                <a:solidFill>
                  <a:schemeClr val="bg1"/>
                </a:solidFill>
                <a:effectLst/>
                <a:latin typeface="+mj-ea"/>
                <a:ea typeface="+mj-ea"/>
                <a:cs typeface="FreesiaUPC" panose="020B0604020202020204" pitchFamily="34" charset="-34"/>
              </a:rPr>
              <a:t>課程為雙語教學，可以提升外語能力，而且數位學習平台屬於系統化學習。</a:t>
            </a:r>
          </a:p>
          <a:p>
            <a:pPr marL="228600">
              <a:lnSpc>
                <a:spcPct val="130000"/>
              </a:lnSpc>
              <a:spcAft>
                <a:spcPts val="1000"/>
              </a:spcAft>
            </a:pPr>
            <a:r>
              <a:rPr lang="zh-TW" altLang="zh-TW" sz="1800" i="0" cap="all" dirty="0">
                <a:solidFill>
                  <a:srgbClr val="2A2A2A"/>
                </a:solidFill>
                <a:effectLst/>
                <a:latin typeface="Verdana" panose="020B0604030504040204" pitchFamily="34" charset="0"/>
                <a:ea typeface="微軟正黑體" panose="020B0604030504040204" pitchFamily="34" charset="-120"/>
                <a:cs typeface="Arial Rounded MT Bold" panose="020F0704030504030204" pitchFamily="34" charset="0"/>
              </a:rPr>
              <a:t>需</a:t>
            </a:r>
            <a:endParaRPr lang="zh-TW" altLang="zh-TW" sz="1800" dirty="0">
              <a:solidFill>
                <a:srgbClr val="5F5F5F"/>
              </a:solidFill>
              <a:effectLst/>
              <a:latin typeface="Verdana" panose="020B0604030504040204" pitchFamily="34" charset="0"/>
              <a:ea typeface="微軟正黑體" panose="020B0604030504040204" pitchFamily="34" charset="-120"/>
              <a:cs typeface="FreesiaUPC" panose="020B0604020202020204" pitchFamily="34" charset="-34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9067BB3-A330-4C63-9055-8FDB72F6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2EB3E87-0960-43A6-B33B-AB6B15A82628}" type="datetime1">
              <a:rPr lang="zh-TW" altLang="en-US" smtClean="0"/>
              <a:pPr rtl="0">
                <a:spcAft>
                  <a:spcPts val="600"/>
                </a:spcAft>
              </a:pPr>
              <a:t>2022/3/1</a:t>
            </a:fld>
            <a:endParaRPr 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F1521DD0-47B1-44CE-AEDB-B93EA3EDB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219" y="857823"/>
            <a:ext cx="3530781" cy="4953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07023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D637B421-4252-47C0-A353-3935506C4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 </a:t>
            </a:r>
            <a:br>
              <a:rPr lang="en-US" altLang="zh-TW" dirty="0"/>
            </a:br>
            <a:r>
              <a:rPr lang="zh-TW" altLang="en-US" dirty="0"/>
              <a:t>訪談資訊</a:t>
            </a:r>
            <a:endParaRPr lang="en-US" dirty="0"/>
          </a:p>
        </p:txBody>
      </p:sp>
      <p:pic>
        <p:nvPicPr>
          <p:cNvPr id="6" name="圖片 5" descr="一張含有 個人, 坐, 膝上型電腦, 室內 的圖片&#10;&#10;自動產生的描述">
            <a:extLst>
              <a:ext uri="{FF2B5EF4-FFF2-40B4-BE49-F238E27FC236}">
                <a16:creationId xmlns:a16="http://schemas.microsoft.com/office/drawing/2014/main" id="{6A84D478-872B-4A9C-AE06-DB43B1A20F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24" b="-1"/>
          <a:stretch/>
        </p:blipFill>
        <p:spPr>
          <a:xfrm>
            <a:off x="5458984" y="812799"/>
            <a:ext cx="5928344" cy="5294757"/>
          </a:xfrm>
          <a:prstGeom prst="rect">
            <a:avLst/>
          </a:prstGeom>
          <a:noFill/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1B359F-4AE1-4A0E-A4C2-B1C3CEAB7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ja-JP" altLang="zh-TW" kern="50" spc="-65" dirty="0">
                <a:effectLst/>
              </a:rPr>
              <a:t>訪談日期：</a:t>
            </a:r>
            <a:r>
              <a:rPr lang="en-US" altLang="zh-TW" kern="50" spc="-65" dirty="0">
                <a:effectLst/>
              </a:rPr>
              <a:t>2021/12/12</a:t>
            </a:r>
            <a:endParaRPr lang="zh-TW" altLang="zh-TW" dirty="0">
              <a:effectLst/>
            </a:endParaRPr>
          </a:p>
          <a:p>
            <a:r>
              <a:rPr lang="ja-JP" altLang="zh-TW" b="0" kern="50" spc="-65" dirty="0">
                <a:effectLst/>
              </a:rPr>
              <a:t>訪談方式：</a:t>
            </a:r>
            <a:r>
              <a:rPr lang="en-US" altLang="zh-TW" b="0" kern="50" spc="-65" dirty="0">
                <a:effectLst/>
              </a:rPr>
              <a:t>google meet</a:t>
            </a:r>
            <a:r>
              <a:rPr lang="ja-JP" altLang="zh-TW" b="0" kern="50" spc="-65" dirty="0">
                <a:effectLst/>
              </a:rPr>
              <a:t>線上訪</a:t>
            </a:r>
            <a:r>
              <a:rPr lang="zh-TW" altLang="zh-TW" b="0" kern="50" spc="-65" dirty="0">
                <a:effectLst/>
              </a:rPr>
              <a:t>談</a:t>
            </a:r>
            <a:endParaRPr lang="en-US" altLang="zh-TW" b="0" kern="50" spc="-65" dirty="0">
              <a:effectLst/>
            </a:endParaRPr>
          </a:p>
          <a:p>
            <a:r>
              <a:rPr lang="ja-JP" altLang="zh-TW" kern="50" spc="-50" dirty="0">
                <a:effectLst/>
              </a:rPr>
              <a:t>採訪團隊：國立台中科技大學 </a:t>
            </a:r>
            <a:endParaRPr lang="en-US" altLang="ja-JP" kern="50" spc="-50" dirty="0">
              <a:effectLst/>
            </a:endParaRPr>
          </a:p>
          <a:p>
            <a:r>
              <a:rPr lang="ja-JP" altLang="zh-TW" kern="50" spc="-50" dirty="0">
                <a:effectLst/>
              </a:rPr>
              <a:t>資訊工程科</a:t>
            </a:r>
            <a:r>
              <a:rPr lang="en-US" altLang="zh-TW" kern="50" spc="-50" dirty="0">
                <a:effectLst/>
              </a:rPr>
              <a:t> NUTC-TECH</a:t>
            </a:r>
            <a:r>
              <a:rPr lang="zh-TW" altLang="zh-TW" kern="50" spc="-50" dirty="0">
                <a:effectLst/>
              </a:rPr>
              <a:t>小組</a:t>
            </a:r>
            <a:endParaRPr lang="zh-TW" altLang="zh-TW" dirty="0">
              <a:effectLst/>
            </a:endParaRPr>
          </a:p>
          <a:p>
            <a:endParaRPr lang="zh-TW" altLang="zh-TW" b="1" dirty="0">
              <a:effectLst/>
            </a:endParaRPr>
          </a:p>
          <a:p>
            <a:endParaRPr lang="zh-TW" altLang="en-US" dirty="0"/>
          </a:p>
        </p:txBody>
      </p: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86A6F32F-28B8-4BFD-8A1A-76F6BF90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4E96419C-65CA-4A96-8C8D-1B83D1EEA06C}" type="datetime1">
              <a:rPr lang="zh-TW" altLang="en-US" smtClean="0"/>
              <a:pPr rtl="0">
                <a:spcAft>
                  <a:spcPts val="600"/>
                </a:spcAft>
              </a:pPr>
              <a:t>2022/3/1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01930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65_TF56160789.potx" id="{C03BE16E-05B7-438C-85CB-7604B66C50C5}" vid="{E3EA7662-8E7E-4B1D-9203-FBA998A86136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{68E5AEA4-2509-484A-A414-BE1EF9F522B1}tf56160789_win32</Template>
  <TotalTime>242</TotalTime>
  <Words>513</Words>
  <Application>Microsoft Office PowerPoint</Application>
  <PresentationFormat>寬螢幕</PresentationFormat>
  <Paragraphs>40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8" baseType="lpstr">
      <vt:lpstr>Microsoft JhengHei UI</vt:lpstr>
      <vt:lpstr>ＭＳ Ｐゴシック</vt:lpstr>
      <vt:lpstr>細明體</vt:lpstr>
      <vt:lpstr>細明體</vt:lpstr>
      <vt:lpstr>微軟正黑體</vt:lpstr>
      <vt:lpstr>新細明體</vt:lpstr>
      <vt:lpstr>Calibri</vt:lpstr>
      <vt:lpstr>Franklin Gothic Book</vt:lpstr>
      <vt:lpstr>Verdana</vt:lpstr>
      <vt:lpstr>1_RetrospectVTI</vt:lpstr>
      <vt:lpstr>受訪者: 台北科大五專部 智慧自動化工程科 </vt:lpstr>
      <vt:lpstr>訪談 主題              學制 經驗 分享     </vt:lpstr>
      <vt:lpstr>訪談內容</vt:lpstr>
      <vt:lpstr>  </vt:lpstr>
      <vt:lpstr>  </vt:lpstr>
      <vt:lpstr>  </vt:lpstr>
      <vt:lpstr>  </vt:lpstr>
      <vt:lpstr>  訪談資訊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標題 Lorem Ipsum</dc:title>
  <dc:creator>andy Chen</dc:creator>
  <cp:lastModifiedBy>andy Chen</cp:lastModifiedBy>
  <cp:revision>4</cp:revision>
  <dcterms:created xsi:type="dcterms:W3CDTF">2021-12-27T13:30:40Z</dcterms:created>
  <dcterms:modified xsi:type="dcterms:W3CDTF">2022-03-01T12:50:41Z</dcterms:modified>
</cp:coreProperties>
</file>